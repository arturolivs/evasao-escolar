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234440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8D3E8"/>
                </a:solidFill>
                <a:latin typeface="Calibri" panose="020F0502020204030204"/>
              </a:rPr>
              <a:t>PONTIFÍCIA UNIVERSIDADE CATÓLICA DE SÃO PAULO</a:t>
            </a:r>
            <a:endParaRPr sz="1300" b="1">
              <a:solidFill>
                <a:srgbClr val="C8D3E8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FB4D8"/>
                </a:solidFill>
                <a:latin typeface="Calibri" panose="020F0502020204030204"/>
              </a:rPr>
              <a:t>Especialização em Engenharia de Software</a:t>
            </a:r>
            <a:endParaRPr sz="1500" b="0">
              <a:solidFill>
                <a:srgbClr val="9FB4D8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241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 panose="020F0502020204030204"/>
              </a:rPr>
              <a:t>Sistema de Priorização de Escolas</a:t>
            </a:r>
            <a:endParaRPr sz="4400" b="1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 panose="020F0502020204030204"/>
              </a:rPr>
              <a:t>em Risco de Evasão</a:t>
            </a:r>
            <a:endParaRPr sz="44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C8D3E8"/>
                </a:solidFill>
                <a:latin typeface="Calibri" panose="020F0502020204030204"/>
              </a:rPr>
              <a:t>Uma ferramenta preditiva para a gestão da educação estadual de Pernambuco</a:t>
            </a:r>
            <a:endParaRPr sz="1900" b="0">
              <a:solidFill>
                <a:srgbClr val="C8D3E8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41248" y="4892040"/>
            <a:ext cx="109728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21208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 panose="020F0502020204030204"/>
              </a:rPr>
              <a:t>Artur Oliveira Santiago</a:t>
            </a:r>
            <a:endParaRPr sz="1700" b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 panose="020F0502020204030204"/>
              </a:rPr>
              <a:t>Orientador: prof. Silvio Luiz Stanzani</a:t>
            </a:r>
            <a:endParaRPr sz="1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38767" y="58064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9FB4D8"/>
                </a:solidFill>
                <a:latin typeface="Calibri" panose="020F0502020204030204"/>
              </a:rPr>
              <a:t>São Paulo · 2026</a:t>
            </a:r>
            <a:endParaRPr sz="1500" b="0">
              <a:solidFill>
                <a:srgbClr val="9FB4D8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2743200"/>
            <a:ext cx="1097280" cy="508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574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PARTE 1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063240"/>
            <a:ext cx="110578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 panose="020F0502020204030204"/>
              </a:rPr>
              <a:t>O problema</a:t>
            </a:r>
            <a:endParaRPr sz="40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3977639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8D3E8"/>
                </a:solidFill>
                <a:latin typeface="Calibri" panose="020F0502020204030204"/>
              </a:rPr>
              <a:t>Por que a média da rede não serve para decidir</a:t>
            </a:r>
            <a:endParaRPr sz="1800" b="0">
              <a:solidFill>
                <a:srgbClr val="C8D3E8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CONTEXTO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Evasão no Ensino Médio público de Pernambuco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3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2633472"/>
            <a:ext cx="3533546" cy="1325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33472"/>
            <a:ext cx="50800" cy="13258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779776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~800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8096" y="3291840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escolas estaduais de Ensino Médio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9074" y="2633472"/>
            <a:ext cx="3533546" cy="1325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9074" y="2633472"/>
            <a:ext cx="50800" cy="13258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0242" y="2779776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185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30242" y="3291840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municípios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91220" y="2633472"/>
            <a:ext cx="3533546" cy="1325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1220" y="2633472"/>
            <a:ext cx="50800" cy="13258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2779776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2.043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92388" y="3291840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alunos abandonaram em 2024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934456"/>
            <a:ext cx="10600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Hoje a rede age depois do abandono. O sistema antecipa onde agir.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ACHADO QUE ORIENTA TODO O PROJETO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 média da rede esconde o problema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4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E1_problema_critic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9338" y="1545082"/>
            <a:ext cx="9013018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4937760"/>
            <a:ext cx="3533546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937760"/>
            <a:ext cx="50800" cy="1143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84064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0,96%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5596128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taxa média em 2024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29074" y="4937760"/>
            <a:ext cx="3533546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9074" y="4937760"/>
            <a:ext cx="50800" cy="1143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0242" y="5084064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67%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30242" y="5596128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das escolas sem nenhum abandono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91220" y="4937760"/>
            <a:ext cx="3533546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4937760"/>
            <a:ext cx="50800" cy="1143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2388" y="5084064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76%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92388" y="5596128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dos evadidos em 79 escolas (10%)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ESCOPO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 decisão que define o sistema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5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1673352"/>
            <a:ext cx="5254599" cy="228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73352"/>
            <a:ext cx="5254599" cy="635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47672"/>
            <a:ext cx="4705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595959"/>
                </a:solidFill>
                <a:latin typeface="Calibri" panose="020F0502020204030204"/>
              </a:rPr>
              <a:t>Prever por ALUNO</a:t>
            </a:r>
            <a:endParaRPr sz="2200" b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41248" y="25786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96312"/>
            <a:ext cx="444992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Dados sigilosos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41248" y="29850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02712"/>
            <a:ext cx="444992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Inviável para 800 escolas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41248" y="33914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09112"/>
            <a:ext cx="444992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Não é onde o gestor decide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70167" y="1673352"/>
            <a:ext cx="5254599" cy="228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0167" y="1673352"/>
            <a:ext cx="5254599" cy="635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4487" y="1947672"/>
            <a:ext cx="4705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F3864"/>
                </a:solidFill>
                <a:latin typeface="Calibri" panose="020F0502020204030204"/>
              </a:rPr>
              <a:t>Prever por ESCOLA  ✓</a:t>
            </a:r>
            <a:endParaRPr sz="22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44487" y="25786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0519" y="2496312"/>
            <a:ext cx="444992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Dados públicos nesse nível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644487" y="29850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0519" y="2911602"/>
            <a:ext cx="44499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~800 unidades por ano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644487" y="3395472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0519" y="3313176"/>
            <a:ext cx="444992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É onde o gestor age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934456"/>
            <a:ext cx="10600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Unidade de análise: a escola.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O QUE O TRABALHO SE PROPÔS A RESPONDER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Perguntas de pesquisa e objetivo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6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1057839" cy="1051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3500" cy="105156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10512"/>
            <a:ext cx="1041775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Calibri" panose="020F0502020204030204"/>
              </a:rPr>
              <a:t>P1 · Previsão</a:t>
            </a:r>
            <a:r>
              <a:rPr sz="1900" b="0">
                <a:solidFill>
                  <a:srgbClr val="262626"/>
                </a:solidFill>
                <a:latin typeface="Calibri" panose="020F0502020204030204"/>
              </a:rPr>
              <a:t> — quais escolas terão abandono alto no ano seguinte?</a:t>
            </a:r>
            <a:endParaRPr sz="19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2862072"/>
            <a:ext cx="11057839" cy="1051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862072"/>
            <a:ext cx="63500" cy="105156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044952"/>
            <a:ext cx="1041775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Calibri" panose="020F0502020204030204"/>
              </a:rPr>
              <a:t>P2 · Diagnóstico</a:t>
            </a:r>
            <a:r>
              <a:rPr sz="1900" b="0">
                <a:solidFill>
                  <a:srgbClr val="262626"/>
                </a:solidFill>
                <a:latin typeface="Calibri" panose="020F0502020204030204"/>
              </a:rPr>
              <a:t> — quais escolas fogem do que o próprio perfil faria esperar?</a:t>
            </a:r>
            <a:endParaRPr sz="19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4233672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Calibri" panose="020F0502020204030204"/>
              </a:rPr>
              <a:t>Objetivo: prever o risco e explicar cada indicação ao gestor.</a:t>
            </a:r>
            <a:endParaRPr sz="2000" b="1">
              <a:solidFill>
                <a:srgbClr val="1F386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2743200"/>
            <a:ext cx="1097280" cy="508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574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PARTE 2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063240"/>
            <a:ext cx="110578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 panose="020F0502020204030204"/>
              </a:rPr>
              <a:t>A solução</a:t>
            </a:r>
            <a:endParaRPr sz="40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3977639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8D3E8"/>
                </a:solidFill>
                <a:latin typeface="Calibri" panose="020F0502020204030204"/>
              </a:rPr>
              <a:t>Dados, características e arquitetura</a:t>
            </a:r>
            <a:endParaRPr sz="1800" b="0">
              <a:solidFill>
                <a:srgbClr val="C8D3E8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FONTES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Os dados: tudo público, tudo do INEP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8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73352"/>
            <a:ext cx="10801807" cy="308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1F3864"/>
                </a:solidFill>
                <a:latin typeface="Calibri" panose="020F0502020204030204"/>
              </a:rPr>
              <a:t>Censo Escolar, Taxas de Rendimento e 4 indicadores do INEP</a:t>
            </a:r>
            <a:r>
              <a:rPr sz="1900" b="0">
                <a:solidFill>
                  <a:srgbClr val="262626"/>
                </a:solidFill>
                <a:latin typeface="Calibri" panose="020F0502020204030204"/>
              </a:rPr>
              <a:t> — 2022 a 2024, todos públicos</a:t>
            </a:r>
            <a:endParaRPr sz="19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928" y="2816352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 panose="020F0502020204030204"/>
              </a:rPr>
              <a:t>Do painel histórico ao conjunto usado na previsão</a:t>
            </a:r>
            <a:endParaRPr sz="1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3273552"/>
            <a:ext cx="2593009" cy="1417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73552"/>
            <a:ext cx="50800" cy="14173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419856"/>
            <a:ext cx="2227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2.392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8096" y="3931920"/>
            <a:ext cx="222724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registros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806 escolas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388537" y="3273552"/>
            <a:ext cx="2593009" cy="1417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8537" y="3273552"/>
            <a:ext cx="50800" cy="14173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9705" y="3419856"/>
            <a:ext cx="2227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−791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589705" y="3931920"/>
            <a:ext cx="222724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2024 ainda sem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ano seguinte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0146" y="3273552"/>
            <a:ext cx="2593009" cy="1417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6" y="3273552"/>
            <a:ext cx="50800" cy="14173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1314" y="3419856"/>
            <a:ext cx="2227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−15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11314" y="3931920"/>
            <a:ext cx="222724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escolas que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saíram da rede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031755" y="3273552"/>
            <a:ext cx="2593009" cy="1417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31755" y="3273552"/>
            <a:ext cx="50800" cy="14173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2923" y="3419856"/>
            <a:ext cx="222724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1.586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232923" y="3931920"/>
            <a:ext cx="222724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observações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801 escolas · 39 características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934456"/>
            <a:ext cx="10600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Características do ano t → abandono do ano t+1.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A VARIÁVEL-ALVO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O que o sistema prevê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9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E2_alv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581" y="1536192"/>
            <a:ext cx="9270533" cy="3291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50932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10912"/>
            <a:ext cx="10801807" cy="27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68% das observações: abandono zero</a:t>
            </a:r>
            <a:endParaRPr sz="17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5515864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33568"/>
            <a:ext cx="10801807" cy="5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Risco 10× maior</a:t>
            </a:r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 nas escolas indígenas e quilombolas</a:t>
            </a:r>
            <a:endParaRPr sz="1700" b="0">
              <a:solidFill>
                <a:srgbClr val="26262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SELEÇÃO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As características usadas: de 400+ colunas para 39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10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E7_relacao_toda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574" y="1307592"/>
            <a:ext cx="4963028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73568" y="1581912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6 grupos · 39 características</a:t>
            </a:r>
            <a:endParaRPr sz="17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973568" y="1993392"/>
            <a:ext cx="4023360" cy="411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9872" y="20756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Contexto e localização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356848" y="20574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4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73568" y="2450592"/>
            <a:ext cx="4023360" cy="411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2" y="25328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Porte e proporções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356848" y="25146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5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973568" y="2907792"/>
            <a:ext cx="4023360" cy="411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Infraestrutura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356848" y="29718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13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73568" y="3364992"/>
            <a:ext cx="4023360" cy="411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34472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Corpo docente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356848" y="34290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4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973568" y="3822192"/>
            <a:ext cx="4023360" cy="411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39044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Perfil dos alunos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356848" y="38862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5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973568" y="4279392"/>
            <a:ext cx="4023360" cy="411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3616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Histórico de rendimento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356848" y="43434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8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973568" y="5559552"/>
            <a:ext cx="4023360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4736" y="5724144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 panose="020F0502020204030204"/>
              </a:rPr>
              <a:t>30 de 38 têm relação comprovada com o abandono.</a:t>
            </a:r>
            <a:endParaRPr sz="15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ENGENHARIA DE SOFTWARE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Arquitetura: componentes e fluxo de dados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11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arq3_component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0512" y="1536192"/>
            <a:ext cx="5830671" cy="3566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532180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239512"/>
            <a:ext cx="10801807" cy="520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Etapas trocam arquivos</a:t>
            </a: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, não chamadas diretas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5988304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906008"/>
            <a:ext cx="1080180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Sentido único</a:t>
            </a: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: dados → características → modelo → painel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QUALIDADE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Por que os testes são o centro do projeto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12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1057839" cy="914400"/>
          </a:xfrm>
          <a:prstGeom prst="rect">
            <a:avLst/>
          </a:prstGeom>
          <a:solidFill>
            <a:srgbClr val="FD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3500" cy="9144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10512"/>
            <a:ext cx="1041775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F3864"/>
                </a:solidFill>
                <a:latin typeface="Calibri" panose="020F0502020204030204"/>
              </a:rPr>
              <a:t>O erro de preparação não quebra a execução: gera, em silêncio, um modelo inválido.</a:t>
            </a:r>
            <a:endParaRPr sz="19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3533546" cy="1188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91840"/>
            <a:ext cx="50800" cy="11887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438144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138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8096" y="3950208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testes automatizados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29074" y="3291840"/>
            <a:ext cx="3533546" cy="1188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29074" y="3291840"/>
            <a:ext cx="50800" cy="11887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0242" y="3438144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0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30242" y="3950208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etapas presas à máquina local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91220" y="3291840"/>
            <a:ext cx="3533546" cy="1188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1220" y="3291840"/>
            <a:ext cx="50800" cy="11887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2388" y="3438144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3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292388" y="3950208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estágios de dados imutáveis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2743200"/>
            <a:ext cx="1097280" cy="508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574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55A11"/>
                </a:solidFill>
                <a:latin typeface="Calibri" panose="020F0502020204030204"/>
              </a:rPr>
              <a:t>PARTE 3</a:t>
            </a:r>
            <a:endParaRPr sz="16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063240"/>
            <a:ext cx="110578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 panose="020F0502020204030204"/>
              </a:rPr>
              <a:t>Os resultados</a:t>
            </a:r>
            <a:endParaRPr sz="40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3977639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C8D3E8"/>
                </a:solidFill>
                <a:latin typeface="Calibri" panose="020F0502020204030204"/>
              </a:rPr>
              <a:t>O que o sistema acerta, o que erra e quanto vale</a:t>
            </a:r>
            <a:endParaRPr sz="1800" b="0">
              <a:solidFill>
                <a:srgbClr val="C8D3E8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PROTOCOLO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Como o desempenho foi medido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14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2176272"/>
            <a:ext cx="5300319" cy="19202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76272"/>
            <a:ext cx="5300319" cy="6350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47882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F3864"/>
                </a:solidFill>
                <a:latin typeface="Calibri" panose="020F0502020204030204"/>
              </a:rPr>
              <a:t>Validação repetida</a:t>
            </a:r>
            <a:endParaRPr sz="21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2907792"/>
            <a:ext cx="47882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20 rodadas, cada uma com 20% dos municípios fora do treino.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324447" y="2176272"/>
            <a:ext cx="5300319" cy="19202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2176272"/>
            <a:ext cx="5300319" cy="635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0479" y="2450592"/>
            <a:ext cx="47882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F3864"/>
                </a:solidFill>
                <a:latin typeface="Calibri" panose="020F0502020204030204"/>
              </a:rPr>
              <a:t>Teste do ano nunca visto</a:t>
            </a:r>
            <a:endParaRPr sz="21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0479" y="2907792"/>
            <a:ext cx="47882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Treina em 2022→2023 e prevê 2023→2024, como no uso real.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5934456"/>
            <a:ext cx="10600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O que importa: acertar a ordem e a lista das 10% mais críticas.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RESULTADO CENTRAL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O sistema acerta a ordem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15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M6_cv_repetid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7704" y="1828800"/>
            <a:ext cx="7556727" cy="2944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8048" y="1627632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Calibri" panose="020F0502020204030204"/>
              </a:rPr>
              <a:t>Teste do ano nunca visto</a:t>
            </a:r>
            <a:endParaRPr sz="1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528048" y="2221992"/>
            <a:ext cx="2514600" cy="65836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56064" y="228549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0,348</a:t>
            </a:r>
            <a:endParaRPr sz="17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56064" y="25420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Calibri" panose="020F0502020204030204"/>
              </a:rPr>
              <a:t>Acerto da ordenação</a:t>
            </a:r>
            <a:endParaRPr sz="12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28048" y="2953512"/>
            <a:ext cx="2514600" cy="65836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6064" y="29992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0,418</a:t>
            </a:r>
            <a:endParaRPr sz="17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56064" y="32735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Calibri" panose="020F0502020204030204"/>
              </a:rPr>
              <a:t>Acerto da lista prioritária</a:t>
            </a:r>
            <a:endParaRPr sz="12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528048" y="3685032"/>
            <a:ext cx="2514600" cy="65836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6064" y="37307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0,798</a:t>
            </a:r>
            <a:endParaRPr sz="17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56064" y="400507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Calibri" panose="020F0502020204030204"/>
              </a:rPr>
              <a:t>Separação crítica × não crítica</a:t>
            </a:r>
            <a:endParaRPr sz="12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528048" y="4416552"/>
            <a:ext cx="2514600" cy="65836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6064" y="446227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C55A11"/>
                </a:solidFill>
                <a:latin typeface="Calibri" panose="020F0502020204030204"/>
              </a:rPr>
              <a:t>não supera o piso</a:t>
            </a:r>
            <a:endParaRPr sz="17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56064" y="473659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Calibri" panose="020F0502020204030204"/>
              </a:rPr>
              <a:t>Erro do valor da taxa</a:t>
            </a:r>
            <a:endParaRPr sz="12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66928" y="5302844"/>
            <a:ext cx="110578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5430860"/>
            <a:ext cx="10600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Termômetro descalibrado: erra os graus, mas aponta quem tem mais febre.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GANHO PRÁTICO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Quanto isso vale para o gestor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16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E4_desempenh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9338" y="1536192"/>
            <a:ext cx="9013018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4919472"/>
            <a:ext cx="3533546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919472"/>
            <a:ext cx="50800" cy="10972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65776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28% vs 6%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5577840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top 50 × escolha ao acaso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29074" y="4919472"/>
            <a:ext cx="3533546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9074" y="4919472"/>
            <a:ext cx="50800" cy="10972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0242" y="5065776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46%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30242" y="5577840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das críticas com uma lista de 100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91220" y="4919472"/>
            <a:ext cx="3533546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4919472"/>
            <a:ext cx="50800" cy="10972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2388" y="5065776"/>
            <a:ext cx="31677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57% vs 19%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92388" y="5577840"/>
            <a:ext cx="31677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Calibri" panose="020F0502020204030204"/>
              </a:rPr>
              <a:t>top 150 × escolha ao acaso</a:t>
            </a:r>
            <a:endParaRPr sz="1300" b="0">
              <a:solidFill>
                <a:srgbClr val="595959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INTERPRETABILIDADE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 explicação de cada indicação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17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P1_fatores_globai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7" y="1444752"/>
            <a:ext cx="7315200" cy="407524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02168" y="175564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673352"/>
            <a:ext cx="3584448" cy="780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Cada previsão é decomposta</a:t>
            </a: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 por característica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2168" y="2682240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2599944"/>
            <a:ext cx="3584448" cy="780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No topo:</a:t>
            </a:r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 histórico da escola, defasagem e reprovação</a:t>
            </a:r>
            <a:endParaRPr sz="16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2168" y="3611880"/>
            <a:ext cx="3840480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3336" y="3794760"/>
            <a:ext cx="3474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Acerta pelas razões certas.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CASO INDIVIDUAL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 explicação de uma escola específica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18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P2_escola_exempl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1193" y="1399032"/>
            <a:ext cx="8149309" cy="39776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5596126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13830"/>
            <a:ext cx="10801807" cy="27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Maior risco na base histórica: </a:t>
            </a:r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escola indígena de Jatobá</a:t>
            </a:r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 — 28,7%</a:t>
            </a:r>
            <a:endParaRPr sz="17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6018782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936486"/>
            <a:ext cx="10801807" cy="5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É o </a:t>
            </a:r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laudo que o gestor vê no painel</a:t>
            </a:r>
            <a:endParaRPr sz="1700" b="1">
              <a:solidFill>
                <a:srgbClr val="1F386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EQUIDADE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O limite que precisa ser declarado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19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pic>
        <p:nvPicPr>
          <p:cNvPr id="6" name="Picture 5" descr="S5_equidade_grupo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205" y="1536192"/>
            <a:ext cx="7875686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345168" y="1673352"/>
            <a:ext cx="2697480" cy="2743200"/>
          </a:xfrm>
          <a:prstGeom prst="rect">
            <a:avLst/>
          </a:prstGeom>
          <a:solidFill>
            <a:srgbClr val="FD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45168" y="1673352"/>
            <a:ext cx="2697480" cy="635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8048" y="1947672"/>
            <a:ext cx="23774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Erro médio por grupo: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−6,12 p.p. indígenas e quilombolas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+0,07 p.p. urbanas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+0,38 p.p. rurais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6928" y="477316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90872"/>
            <a:ext cx="1080180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Causa provável: </a:t>
            </a:r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proteção comunitária</a:t>
            </a: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 que os dados não captam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66928" y="517956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97272"/>
            <a:ext cx="1080180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Risco: </a:t>
            </a:r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recursos para escolas sem risco real</a:t>
            </a:r>
            <a:endParaRPr sz="16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66928" y="558596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503672"/>
            <a:ext cx="10801807" cy="260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F3864"/>
                </a:solidFill>
                <a:latin typeface="Calibri" panose="020F0502020204030204"/>
              </a:rPr>
              <a:t>Declarado no painel</a:t>
            </a:r>
            <a:r>
              <a:rPr sz="1600" b="0">
                <a:solidFill>
                  <a:srgbClr val="262626"/>
                </a:solidFill>
                <a:latin typeface="Calibri" panose="020F0502020204030204"/>
              </a:rPr>
              <a:t> e 1º trabalho futuro</a:t>
            </a:r>
            <a:endParaRPr sz="1600" b="0">
              <a:solidFill>
                <a:srgbClr val="26262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O SISTEMA NAS MÃOS DO GESTOR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A entrega: o painel de priorização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20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2039112"/>
            <a:ext cx="3442106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039112"/>
            <a:ext cx="3442106" cy="6350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313432"/>
            <a:ext cx="298490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3864"/>
                </a:solidFill>
                <a:latin typeface="Calibri" panose="020F0502020204030204"/>
              </a:rPr>
              <a:t>Ranking de risco</a:t>
            </a:r>
            <a:endParaRPr sz="2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5528" y="2770632"/>
            <a:ext cx="298490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Escolas do ano seguinte, com filtros e CSV.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74794" y="2039112"/>
            <a:ext cx="3442106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4794" y="2039112"/>
            <a:ext cx="3442106" cy="6350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3394" y="2313432"/>
            <a:ext cx="298490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3864"/>
                </a:solidFill>
                <a:latin typeface="Calibri" panose="020F0502020204030204"/>
              </a:rPr>
              <a:t>Detalhe da escola</a:t>
            </a:r>
            <a:endParaRPr sz="2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03394" y="2770632"/>
            <a:ext cx="298490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Risco, posição e o laudo da escola.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182660" y="2039112"/>
            <a:ext cx="3442106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2660" y="2039112"/>
            <a:ext cx="3442106" cy="6350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1260" y="2313432"/>
            <a:ext cx="298490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3864"/>
                </a:solidFill>
                <a:latin typeface="Calibri" panose="020F0502020204030204"/>
              </a:rPr>
              <a:t>Panorama</a:t>
            </a:r>
            <a:endParaRPr sz="2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1260" y="2770632"/>
            <a:ext cx="298490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2626"/>
                </a:solidFill>
                <a:latin typeface="Calibri" panose="020F0502020204030204"/>
              </a:rPr>
              <a:t>Quem abandona mais ou menos que o previsto.</a:t>
            </a:r>
            <a:endParaRPr sz="15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9432"/>
            <a:ext cx="10801807" cy="5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Apoio à decisão</a:t>
            </a:r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: mostra associações, não causas</a:t>
            </a:r>
            <a:endParaRPr sz="17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934456"/>
            <a:ext cx="10600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 panose="020F0502020204030204"/>
              </a:rPr>
              <a:t>Onde intervir primeiro — e por quê.</a:t>
            </a:r>
            <a:endParaRPr sz="1600" b="1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RESPOSTAS ÀS PERGUNTAS DE PESQUISA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Conclusões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21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1057839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3500" cy="114300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10512"/>
            <a:ext cx="1041775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62626"/>
                </a:solidFill>
                <a:latin typeface="Calibri" panose="020F0502020204030204"/>
              </a:rPr>
              <a:t>P1 · Sim.</a:t>
            </a:r>
            <a:r>
              <a:rPr sz="1800" b="0">
                <a:solidFill>
                  <a:srgbClr val="262626"/>
                </a:solidFill>
                <a:latin typeface="Calibri" panose="020F0502020204030204"/>
              </a:rPr>
              <a:t> O sistema acerta QUAIS escolas, não QUANTO — e a decisão depende da ordem.</a:t>
            </a:r>
            <a:endParaRPr sz="18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6928" y="2953512"/>
            <a:ext cx="11057839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953512"/>
            <a:ext cx="63500" cy="114300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136392"/>
            <a:ext cx="1041775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62626"/>
                </a:solidFill>
                <a:latin typeface="Calibri" panose="020F0502020204030204"/>
              </a:rPr>
              <a:t>P2 · Sim.</a:t>
            </a:r>
            <a:r>
              <a:rPr sz="1800" b="0">
                <a:solidFill>
                  <a:srgbClr val="262626"/>
                </a:solidFill>
                <a:latin typeface="Calibri" panose="020F0502020204030204"/>
              </a:rPr>
              <a:t> Observado × esperado revela as escolas que fogem do padrão.</a:t>
            </a:r>
            <a:endParaRPr sz="18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66928" y="4361688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279392"/>
            <a:ext cx="10801807" cy="27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Evasão concentrada</a:t>
            </a:r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: priorizar, não acompanhar a média</a:t>
            </a:r>
            <a:endParaRPr sz="17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66928" y="4784344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02048"/>
            <a:ext cx="10801807" cy="27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39 características</a:t>
            </a:r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 com critérios explícitos</a:t>
            </a:r>
            <a:endParaRPr sz="1700" b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66928" y="5207000"/>
            <a:ext cx="82296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4704"/>
            <a:ext cx="10801807" cy="5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F3864"/>
                </a:solidFill>
                <a:latin typeface="Calibri" panose="020F0502020204030204"/>
              </a:rPr>
              <a:t>Engenharia como defesa</a:t>
            </a:r>
            <a:r>
              <a:rPr sz="1700" b="0">
                <a:solidFill>
                  <a:srgbClr val="262626"/>
                </a:solidFill>
                <a:latin typeface="Calibri" panose="020F0502020204030204"/>
              </a:rPr>
              <a:t>: camadas e 138 testes</a:t>
            </a:r>
            <a:endParaRPr sz="1700" b="0">
              <a:solidFill>
                <a:srgbClr val="26262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11480"/>
            <a:ext cx="1105783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55A11"/>
                </a:solidFill>
                <a:latin typeface="Calibri" panose="020F0502020204030204"/>
              </a:rPr>
              <a:t>O QUE VEM DEPOIS</a:t>
            </a:r>
            <a:endParaRPr sz="1200" b="1">
              <a:solidFill>
                <a:srgbClr val="C55A11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67512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3864"/>
                </a:solidFill>
                <a:latin typeface="Calibri" panose="020F0502020204030204"/>
              </a:rPr>
              <a:t>Trabalhos futuros</a:t>
            </a:r>
            <a:endParaRPr sz="30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137160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6127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Calibri" panose="020F0502020204030204"/>
              </a:rPr>
              <a:t>22</a:t>
            </a:r>
            <a:endParaRPr sz="11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1673352"/>
            <a:ext cx="502920" cy="89611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92808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 panose="020F0502020204030204"/>
              </a:rPr>
              <a:t>1</a:t>
            </a:r>
            <a:endParaRPr sz="2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069848" y="1673352"/>
            <a:ext cx="10554919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4168" y="1984248"/>
            <a:ext cx="99605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864"/>
                </a:solidFill>
                <a:latin typeface="Calibri" panose="020F0502020204030204"/>
              </a:rPr>
              <a:t>Correção do viés de equidade</a:t>
            </a:r>
            <a:endParaRPr sz="1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2697480"/>
            <a:ext cx="502920" cy="89611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916936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 panose="020F0502020204030204"/>
              </a:rPr>
              <a:t>2</a:t>
            </a:r>
            <a:endParaRPr sz="2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69848" y="2697480"/>
            <a:ext cx="10554919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3008376"/>
            <a:ext cx="99605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864"/>
                </a:solidFill>
                <a:latin typeface="Calibri" panose="020F0502020204030204"/>
              </a:rPr>
              <a:t>Ampliação da base</a:t>
            </a:r>
            <a:endParaRPr sz="1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66928" y="3721608"/>
            <a:ext cx="502920" cy="89611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941064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 panose="020F0502020204030204"/>
              </a:rPr>
              <a:t>3</a:t>
            </a:r>
            <a:endParaRPr sz="2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069848" y="3721608"/>
            <a:ext cx="10554919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4168" y="4032504"/>
            <a:ext cx="99605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864"/>
                </a:solidFill>
                <a:latin typeface="Calibri" panose="020F0502020204030204"/>
              </a:rPr>
              <a:t>Evolução do sistema</a:t>
            </a:r>
            <a:endParaRPr sz="1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4745736"/>
            <a:ext cx="502920" cy="89611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965192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 panose="020F0502020204030204"/>
              </a:rPr>
              <a:t>4</a:t>
            </a:r>
            <a:endParaRPr sz="2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69848" y="4745736"/>
            <a:ext cx="10554919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4168" y="5056632"/>
            <a:ext cx="99605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864"/>
                </a:solidFill>
                <a:latin typeface="Calibri" panose="020F0502020204030204"/>
              </a:rPr>
              <a:t>Avaliação em uso</a:t>
            </a:r>
            <a:endParaRPr sz="1800" b="1">
              <a:solidFill>
                <a:srgbClr val="1F386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2860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 panose="020F0502020204030204"/>
              </a:rPr>
              <a:t>Obrigado.</a:t>
            </a:r>
            <a:endParaRPr sz="46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41248" y="3291840"/>
            <a:ext cx="1097280" cy="381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C8D3E8"/>
                </a:solidFill>
                <a:latin typeface="Calibri" panose="020F0502020204030204"/>
              </a:rPr>
              <a:t>O sistema não diz quanto cada escola vai perder.</a:t>
            </a:r>
            <a:endParaRPr sz="2400" b="0">
              <a:solidFill>
                <a:srgbClr val="C8D3E8"/>
              </a:solidFill>
              <a:latin typeface="Calibri" panose="020F0502020204030204"/>
            </a:endParaRP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C8D3E8"/>
                </a:solidFill>
                <a:latin typeface="Calibri" panose="020F0502020204030204"/>
              </a:rPr>
              <a:t>Diz onde olhar primeiro — e por quê.</a:t>
            </a:r>
            <a:endParaRPr sz="2400" b="0">
              <a:solidFill>
                <a:srgbClr val="C8D3E8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8" y="5120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9FB4D8"/>
                </a:solidFill>
                <a:latin typeface="Calibri" panose="020F0502020204030204"/>
              </a:rPr>
              <a:t>Artur Oliveira Santiago · PUC-SP · 2026</a:t>
            </a:r>
            <a:endParaRPr sz="1600" b="0">
              <a:solidFill>
                <a:srgbClr val="9FB4D8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4626</Words>
  <Application>WPS Presentation</Application>
  <PresentationFormat>On-screen Show (4:3)</PresentationFormat>
  <Paragraphs>379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2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Artur Oliveira Santiago</cp:lastModifiedBy>
  <cp:revision>3</cp:revision>
  <dcterms:created xsi:type="dcterms:W3CDTF">2013-01-27T09:14:00Z</dcterms:created>
  <dcterms:modified xsi:type="dcterms:W3CDTF">2026-10-30T03:35:52Z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1046-12.1.0.29162</vt:lpwstr>
  </property>
  <property fmtid="{D5CDD505-2E9C-101B-9397-08002B2CF9AE}" pid="3" name="ICV">
    <vt:lpwstr>7FF930A383F442F482EB16BCAC0A33E0_12</vt:lpwstr>
  </property>
</Properties>
</file>