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123444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C8D3E8"/>
                </a:solidFill>
                <a:latin typeface="Calibri"/>
              </a:rPr>
              <a:t>PONTIFÍCIA UNIVERSIDADE CATÓLICA DE SÃO PAULO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536192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9FB4D8"/>
                </a:solidFill>
                <a:latin typeface="Calibri"/>
              </a:rPr>
              <a:t>Especialização em Engenharia de 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3774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Sistema de Priorização de Escolas</a:t>
            </a:r>
          </a:p>
          <a:p>
            <a:pPr algn="l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em Risco de Evasão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11480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C8D3E8"/>
                </a:solidFill>
                <a:latin typeface="Calibri"/>
              </a:rPr>
              <a:t>Uma ferramenta preditiva para a gestão da educação estadual de Pernambuco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4892040"/>
            <a:ext cx="1097280" cy="381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5212080"/>
            <a:ext cx="7315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Artur Oliveira Santiago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Orientador: prof. Silvio Luiz Stanzani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8767" y="580644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0">
                <a:solidFill>
                  <a:srgbClr val="9FB4D8"/>
                </a:solidFill>
                <a:latin typeface="Calibri"/>
              </a:rPr>
              <a:t>São Paulo ·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0"/>
            <a:ext cx="1097280" cy="508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057400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55A11"/>
                </a:solidFill>
                <a:latin typeface="Calibri"/>
              </a:rPr>
              <a:t>PARTE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063240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O problema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977639"/>
            <a:ext cx="7772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C8D3E8"/>
                </a:solidFill>
                <a:latin typeface="Calibri"/>
              </a:rPr>
              <a:t>Por que a média da rede não serve para decidir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55A11"/>
                </a:solidFill>
                <a:latin typeface="Calibri"/>
              </a:rPr>
              <a:t>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751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Evasão no Ensino Médio público de Pernambuco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1371600" cy="381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76127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633472"/>
            <a:ext cx="3533546" cy="132588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633472"/>
            <a:ext cx="50800" cy="132588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779776"/>
            <a:ext cx="31677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~800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3291840"/>
            <a:ext cx="316778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escolas estaduais de Ensino Médio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9074" y="2633472"/>
            <a:ext cx="3533546" cy="132588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9074" y="2633472"/>
            <a:ext cx="50800" cy="132588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0242" y="2779776"/>
            <a:ext cx="31677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185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0242" y="3291840"/>
            <a:ext cx="316778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municípios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1220" y="2633472"/>
            <a:ext cx="3533546" cy="132588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1220" y="2633472"/>
            <a:ext cx="50800" cy="132588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2388" y="2779776"/>
            <a:ext cx="31677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2.043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2388" y="3291840"/>
            <a:ext cx="316778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alunos abandonaram em 2024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5806440"/>
            <a:ext cx="11057839" cy="5669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" y="5934456"/>
            <a:ext cx="106006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Hoje a rede age depois do abandono. O sistema antecipa onde agir.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55A11"/>
                </a:solidFill>
                <a:latin typeface="Calibri"/>
              </a:rPr>
              <a:t>ACHADO QUE ORIENTA TODO O PROJETO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751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A média da rede esconde o problema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1371600" cy="381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76127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4</a:t>
            </a:r>
          </a:p>
        </p:txBody>
      </p:sp>
      <p:pic>
        <p:nvPicPr>
          <p:cNvPr id="6" name="Picture 5" descr="E1_problema_criti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338" y="1536192"/>
            <a:ext cx="9013018" cy="3200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4937760"/>
            <a:ext cx="3533546" cy="114300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4937760"/>
            <a:ext cx="50800" cy="11430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5084064"/>
            <a:ext cx="31677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0,96%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596128"/>
            <a:ext cx="316778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taxa média em 2024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9074" y="4937760"/>
            <a:ext cx="3533546" cy="114300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9074" y="4937760"/>
            <a:ext cx="50800" cy="11430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0242" y="5084064"/>
            <a:ext cx="31677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67%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0242" y="5596128"/>
            <a:ext cx="316778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das escolas sem nenhum abandono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1220" y="4937760"/>
            <a:ext cx="3533546" cy="114300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1220" y="4937760"/>
            <a:ext cx="50800" cy="11430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2388" y="5084064"/>
            <a:ext cx="31677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76%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2388" y="5596128"/>
            <a:ext cx="316778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dos evadidos em 79 escolas (10%)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55A11"/>
                </a:solidFill>
                <a:latin typeface="Calibri"/>
              </a:rPr>
              <a:t>ESCOPO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751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A decisão que define o sistema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1371600" cy="381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76127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73352"/>
            <a:ext cx="5254599" cy="228600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73352"/>
            <a:ext cx="5254599" cy="6350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947672"/>
            <a:ext cx="4705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595959"/>
                </a:solidFill>
                <a:latin typeface="Calibri"/>
              </a:rPr>
              <a:t>Prever por ALUNO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2578608"/>
            <a:ext cx="82296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96312"/>
            <a:ext cx="4449927" cy="260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262626"/>
                </a:solidFill>
                <a:latin typeface="Calibri"/>
              </a:rPr>
              <a:t>Dados sigilosos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2985008"/>
            <a:ext cx="82296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902712"/>
            <a:ext cx="4449927" cy="260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262626"/>
                </a:solidFill>
                <a:latin typeface="Calibri"/>
              </a:rPr>
              <a:t>Inviável para 800 escolas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3391408"/>
            <a:ext cx="82296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309112"/>
            <a:ext cx="4449927" cy="260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262626"/>
                </a:solidFill>
                <a:latin typeface="Calibri"/>
              </a:rPr>
              <a:t>Não é onde o gestor decide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70167" y="1673352"/>
            <a:ext cx="5254599" cy="228600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70167" y="1673352"/>
            <a:ext cx="5254599" cy="635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44487" y="1947672"/>
            <a:ext cx="4705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F3864"/>
                </a:solidFill>
                <a:latin typeface="Calibri"/>
              </a:rPr>
              <a:t>Prever por ESCOLA  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44487" y="2578608"/>
            <a:ext cx="82296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0519" y="2496312"/>
            <a:ext cx="4449927" cy="260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262626"/>
                </a:solidFill>
                <a:latin typeface="Calibri"/>
              </a:rPr>
              <a:t>Dados públicos nesse nível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44487" y="2985008"/>
            <a:ext cx="82296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00519" y="2902712"/>
            <a:ext cx="4449927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262626"/>
                </a:solidFill>
                <a:latin typeface="Calibri"/>
              </a:rPr>
              <a:t>~800 unidades por ano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44487" y="3395472"/>
            <a:ext cx="82296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0519" y="3313176"/>
            <a:ext cx="4449927" cy="260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262626"/>
                </a:solidFill>
                <a:latin typeface="Calibri"/>
              </a:rPr>
              <a:t>É onde o gestor 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5806440"/>
            <a:ext cx="11057839" cy="5669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" y="5934456"/>
            <a:ext cx="106006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Unidade de análise: a escola.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55A11"/>
                </a:solidFill>
                <a:latin typeface="Calibri"/>
              </a:rPr>
              <a:t>O QUE O TRABALHO SE PROPÔS A RESPONDER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751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Perguntas de pesquisa e objetivo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1371600" cy="381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76127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27632"/>
            <a:ext cx="11057839" cy="105156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63500" cy="1051560"/>
          </a:xfrm>
          <a:prstGeom prst="rect">
            <a:avLst/>
          </a:prstGeom>
          <a:solidFill>
            <a:srgbClr val="2E5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810512"/>
            <a:ext cx="104177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62626"/>
                </a:solidFill>
                <a:latin typeface="Calibri"/>
              </a:rPr>
              <a:t>P1 · Previsão</a:t>
            </a:r>
            <a:r>
              <a:rPr sz="1900" b="0">
                <a:solidFill>
                  <a:srgbClr val="262626"/>
                </a:solidFill>
                <a:latin typeface="Calibri"/>
              </a:rPr>
              <a:t> — quais escolas terão abandono alto no ano seguinte?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862072"/>
            <a:ext cx="11057839" cy="105156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862072"/>
            <a:ext cx="63500" cy="1051560"/>
          </a:xfrm>
          <a:prstGeom prst="rect">
            <a:avLst/>
          </a:prstGeom>
          <a:solidFill>
            <a:srgbClr val="2E5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044952"/>
            <a:ext cx="104177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62626"/>
                </a:solidFill>
                <a:latin typeface="Calibri"/>
              </a:rPr>
              <a:t>P2 · Diagnóstico</a:t>
            </a:r>
            <a:r>
              <a:rPr sz="1900" b="0">
                <a:solidFill>
                  <a:srgbClr val="262626"/>
                </a:solidFill>
                <a:latin typeface="Calibri"/>
              </a:rPr>
              <a:t> — quais escolas fogem do que o próprio perfil faria esperar?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233672"/>
            <a:ext cx="110578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F3864"/>
                </a:solidFill>
                <a:latin typeface="Calibri"/>
              </a:rPr>
              <a:t>Objetivo: prever o risco e explicar cada indicação ao gestor.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0"/>
            <a:ext cx="1097280" cy="508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057400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55A11"/>
                </a:solidFill>
                <a:latin typeface="Calibri"/>
              </a:rPr>
              <a:t>PARTE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063240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 solução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977639"/>
            <a:ext cx="7772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C8D3E8"/>
                </a:solidFill>
                <a:latin typeface="Calibri"/>
              </a:rPr>
              <a:t>Dados, características e arquitetura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55A11"/>
                </a:solidFill>
                <a:latin typeface="Calibri"/>
              </a:rPr>
              <a:t>FONTES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751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Os dados: tudo público, tudo do INEP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1371600" cy="381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76127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55648"/>
            <a:ext cx="82296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73352"/>
            <a:ext cx="10801807" cy="308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1F3864"/>
                </a:solidFill>
                <a:latin typeface="Calibri"/>
              </a:rPr>
              <a:t>Censo Escolar, Taxas de Rendimento e 4 indicadores do INEP</a:t>
            </a:r>
            <a:r>
              <a:rPr sz="1900" b="0">
                <a:solidFill>
                  <a:srgbClr val="262626"/>
                </a:solidFill>
                <a:latin typeface="Calibri"/>
              </a:rPr>
              <a:t> — 2022 a 2024, todos públicos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816352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  <a:latin typeface="Calibri"/>
              </a:rPr>
              <a:t>Do painel histórico ao conjunto usado na previsão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273552"/>
            <a:ext cx="2593009" cy="141732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3273552"/>
            <a:ext cx="50800" cy="141732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3419856"/>
            <a:ext cx="222724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2.392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3931920"/>
            <a:ext cx="222724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registros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806 escolas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8537" y="3273552"/>
            <a:ext cx="2593009" cy="141732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88537" y="3273552"/>
            <a:ext cx="50800" cy="141732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89705" y="3419856"/>
            <a:ext cx="222724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−791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89705" y="3931920"/>
            <a:ext cx="222724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2024 ainda sem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ano seguinte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0146" y="3273552"/>
            <a:ext cx="2593009" cy="141732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0146" y="3273552"/>
            <a:ext cx="50800" cy="141732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1314" y="3419856"/>
            <a:ext cx="222724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−15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1314" y="3931920"/>
            <a:ext cx="222724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escolas que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saíram da rede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31755" y="3273552"/>
            <a:ext cx="2593009" cy="141732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31755" y="3273552"/>
            <a:ext cx="50800" cy="141732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2923" y="3419856"/>
            <a:ext cx="222724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1.586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2923" y="3931920"/>
            <a:ext cx="222724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observações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801 escolas · 39 características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5806440"/>
            <a:ext cx="11057839" cy="5669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8" y="5934456"/>
            <a:ext cx="106006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Características do ano t → abandono do ano t+1.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55A11"/>
                </a:solidFill>
                <a:latin typeface="Calibri"/>
              </a:rPr>
              <a:t>A VARIÁVEL-ALVO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751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O que o sistema prevê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1371600" cy="381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76127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9</a:t>
            </a:r>
          </a:p>
        </p:txBody>
      </p:sp>
      <p:pic>
        <p:nvPicPr>
          <p:cNvPr id="6" name="Picture 5" descr="E2_alv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81" y="1536192"/>
            <a:ext cx="9270533" cy="32918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5093208"/>
            <a:ext cx="82296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010912"/>
            <a:ext cx="10801807" cy="276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F3864"/>
                </a:solidFill>
                <a:latin typeface="Calibri"/>
              </a:rPr>
              <a:t>68% das observações: abandono zero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515864"/>
            <a:ext cx="82296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433568"/>
            <a:ext cx="10801807" cy="552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F3864"/>
                </a:solidFill>
                <a:latin typeface="Calibri"/>
              </a:rPr>
              <a:t>Risco 10× maior</a:t>
            </a:r>
            <a:r>
              <a:rPr sz="1700" b="0">
                <a:solidFill>
                  <a:srgbClr val="262626"/>
                </a:solidFill>
                <a:latin typeface="Calibri"/>
              </a:rPr>
              <a:t> nas escolas indígenas e quilombolas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55A11"/>
                </a:solidFill>
                <a:latin typeface="Calibri"/>
              </a:rPr>
              <a:t>SELEÇÃO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751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As características usadas: de 400+ colunas para 39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1371600" cy="381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76127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10</a:t>
            </a:r>
          </a:p>
        </p:txBody>
      </p:sp>
      <p:pic>
        <p:nvPicPr>
          <p:cNvPr id="6" name="Picture 5" descr="E7_relacao_tod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574" y="1307592"/>
            <a:ext cx="4963028" cy="5394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73568" y="1581912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1F3864"/>
                </a:solidFill>
                <a:latin typeface="Calibri"/>
              </a:rPr>
              <a:t>6 grupos · 39 características</a:t>
            </a:r>
          </a:p>
        </p:txBody>
      </p:sp>
      <p:sp>
        <p:nvSpPr>
          <p:cNvPr id="8" name="Rectangle 7"/>
          <p:cNvSpPr/>
          <p:nvPr/>
        </p:nvSpPr>
        <p:spPr>
          <a:xfrm>
            <a:off x="7973568" y="1993392"/>
            <a:ext cx="4023360" cy="41148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9872" y="207568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62626"/>
                </a:solidFill>
                <a:latin typeface="Calibri"/>
              </a:rPr>
              <a:t>Contexto e localização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56848" y="20574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>
                <a:solidFill>
                  <a:srgbClr val="C55A11"/>
                </a:solidFill>
                <a:latin typeface="Calibri"/>
              </a:rPr>
              <a:t>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73568" y="2450592"/>
            <a:ext cx="4023360" cy="41148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9872" y="253288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62626"/>
                </a:solidFill>
                <a:latin typeface="Calibri"/>
              </a:rPr>
              <a:t>Porte e proporções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56848" y="25146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>
                <a:solidFill>
                  <a:srgbClr val="C55A11"/>
                </a:solidFill>
                <a:latin typeface="Calibri"/>
              </a:rPr>
              <a:t>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73568" y="2907792"/>
            <a:ext cx="4023360" cy="41148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9872" y="299008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62626"/>
                </a:solidFill>
                <a:latin typeface="Calibri"/>
              </a:rPr>
              <a:t>Infraestrutura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56848" y="2971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>
                <a:solidFill>
                  <a:srgbClr val="C55A11"/>
                </a:solidFill>
                <a:latin typeface="Calibri"/>
              </a:rPr>
              <a:t>13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73568" y="3364992"/>
            <a:ext cx="4023360" cy="41148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9872" y="344728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62626"/>
                </a:solidFill>
                <a:latin typeface="Calibri"/>
              </a:rPr>
              <a:t>Corpo docente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56848" y="34290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>
                <a:solidFill>
                  <a:srgbClr val="C55A11"/>
                </a:solidFill>
                <a:latin typeface="Calibri"/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73568" y="3822192"/>
            <a:ext cx="4023360" cy="41148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19872" y="390448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62626"/>
                </a:solidFill>
                <a:latin typeface="Calibri"/>
              </a:rPr>
              <a:t>Perfil dos alunos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56848" y="38862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>
                <a:solidFill>
                  <a:srgbClr val="C55A11"/>
                </a:solidFill>
                <a:latin typeface="Calibri"/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73568" y="4279392"/>
            <a:ext cx="4023360" cy="41148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19872" y="436168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62626"/>
                </a:solidFill>
                <a:latin typeface="Calibri"/>
              </a:rPr>
              <a:t>Histórico de rendimento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56848" y="43434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>
                <a:solidFill>
                  <a:srgbClr val="C55A11"/>
                </a:solidFill>
                <a:latin typeface="Calibri"/>
              </a:rPr>
              <a:t>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73568" y="5559552"/>
            <a:ext cx="4023360" cy="8412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74736" y="5724144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30 de 38 têm relação comprovada com o abandono.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55A11"/>
                </a:solidFill>
                <a:latin typeface="Calibri"/>
              </a:rPr>
              <a:t>ENGENHARIA DE SOFTWARE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751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Arquitetura: componentes e fluxo de dados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1371600" cy="381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76127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11</a:t>
            </a:r>
          </a:p>
        </p:txBody>
      </p:sp>
      <p:pic>
        <p:nvPicPr>
          <p:cNvPr id="6" name="Picture 5" descr="arq3_componen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0512" y="1536192"/>
            <a:ext cx="5830671" cy="35661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5321808"/>
            <a:ext cx="82296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239512"/>
            <a:ext cx="10801807" cy="520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F3864"/>
                </a:solidFill>
                <a:latin typeface="Calibri"/>
              </a:rPr>
              <a:t>Etapas trocam arquivos</a:t>
            </a:r>
            <a:r>
              <a:rPr sz="1600" b="0">
                <a:solidFill>
                  <a:srgbClr val="262626"/>
                </a:solidFill>
                <a:latin typeface="Calibri"/>
              </a:rPr>
              <a:t>, não chamadas diretas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988304"/>
            <a:ext cx="82296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906008"/>
            <a:ext cx="10801807" cy="260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F3864"/>
                </a:solidFill>
                <a:latin typeface="Calibri"/>
              </a:rPr>
              <a:t>Sentido único</a:t>
            </a:r>
            <a:r>
              <a:rPr sz="1600" b="0">
                <a:solidFill>
                  <a:srgbClr val="262626"/>
                </a:solidFill>
                <a:latin typeface="Calibri"/>
              </a:rPr>
              <a:t>: dados → características → modelo → painel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55A11"/>
                </a:solidFill>
                <a:latin typeface="Calibri"/>
              </a:rPr>
              <a:t>QUALIDADE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751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Por que os testes são o centro do projeto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1371600" cy="381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76127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27632"/>
            <a:ext cx="11057839" cy="914400"/>
          </a:xfrm>
          <a:prstGeom prst="rect">
            <a:avLst/>
          </a:prstGeom>
          <a:solidFill>
            <a:srgbClr val="FD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63500" cy="9144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810512"/>
            <a:ext cx="104177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F3864"/>
                </a:solidFill>
                <a:latin typeface="Calibri"/>
              </a:rPr>
              <a:t>O erro de preparação não quebra a execução: gera, em silêncio, um modelo inválido.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291840"/>
            <a:ext cx="3533546" cy="118872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291840"/>
            <a:ext cx="50800" cy="118872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438144"/>
            <a:ext cx="31677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138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3950208"/>
            <a:ext cx="316778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testes automatizados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9074" y="3291840"/>
            <a:ext cx="3533546" cy="118872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29074" y="3291840"/>
            <a:ext cx="50800" cy="118872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30242" y="3438144"/>
            <a:ext cx="31677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0242" y="3950208"/>
            <a:ext cx="316778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etapas presas à máquina local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1220" y="3291840"/>
            <a:ext cx="3533546" cy="118872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91220" y="3291840"/>
            <a:ext cx="50800" cy="118872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92388" y="3438144"/>
            <a:ext cx="31677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2388" y="3950208"/>
            <a:ext cx="316778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estágios de dados imutáveis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743200"/>
            <a:ext cx="1097280" cy="508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057400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55A11"/>
                </a:solidFill>
                <a:latin typeface="Calibri"/>
              </a:rPr>
              <a:t>PARTE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063240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Os resultados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977639"/>
            <a:ext cx="7772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C8D3E8"/>
                </a:solidFill>
                <a:latin typeface="Calibri"/>
              </a:rPr>
              <a:t>O que o sistema acerta, o que erra e quanto vale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55A11"/>
                </a:solidFill>
                <a:latin typeface="Calibri"/>
              </a:rPr>
              <a:t>PROTOCOLO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751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Como o desempenho foi medido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1371600" cy="381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76127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176272"/>
            <a:ext cx="5300319" cy="19202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176272"/>
            <a:ext cx="5300319" cy="63500"/>
          </a:xfrm>
          <a:prstGeom prst="rect">
            <a:avLst/>
          </a:prstGeom>
          <a:solidFill>
            <a:srgbClr val="2E5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50592"/>
            <a:ext cx="47882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1F3864"/>
                </a:solidFill>
                <a:latin typeface="Calibri"/>
              </a:rPr>
              <a:t>Validação repetida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07792"/>
            <a:ext cx="478825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20 rodadas, cada uma com 20% dos municípios fora do treino.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24447" y="2176272"/>
            <a:ext cx="5300319" cy="19202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24447" y="2176272"/>
            <a:ext cx="5300319" cy="635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0479" y="2450592"/>
            <a:ext cx="47882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1F3864"/>
                </a:solidFill>
                <a:latin typeface="Calibri"/>
              </a:rPr>
              <a:t>Teste do ano nunca visto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0479" y="2907792"/>
            <a:ext cx="478825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Treina em 2022→2023 e prevê 2023→2024, como no uso real.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5806440"/>
            <a:ext cx="11057839" cy="5669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5934456"/>
            <a:ext cx="106006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O que importa: acertar a ordem e a lista das 10% mais críticas.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55A11"/>
                </a:solidFill>
                <a:latin typeface="Calibri"/>
              </a:rPr>
              <a:t>RESULTADO CENTRAL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751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O sistema acerta a ordem, não a magnitude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1371600" cy="381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76127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15</a:t>
            </a:r>
          </a:p>
        </p:txBody>
      </p:sp>
      <p:pic>
        <p:nvPicPr>
          <p:cNvPr id="6" name="Picture 5" descr="M6_cv_repeti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7704" y="1828800"/>
            <a:ext cx="7556727" cy="2944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528048" y="1627632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F3864"/>
                </a:solidFill>
                <a:latin typeface="Calibri"/>
              </a:rPr>
              <a:t>Teste do ano nunca visto</a:t>
            </a:r>
          </a:p>
        </p:txBody>
      </p:sp>
      <p:sp>
        <p:nvSpPr>
          <p:cNvPr id="8" name="Rectangle 7"/>
          <p:cNvSpPr/>
          <p:nvPr/>
        </p:nvSpPr>
        <p:spPr>
          <a:xfrm>
            <a:off x="9528048" y="2221992"/>
            <a:ext cx="2514600" cy="658368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56064" y="226771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3864"/>
                </a:solidFill>
                <a:latin typeface="Calibri"/>
              </a:rPr>
              <a:t>0,348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6064" y="254203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Acerto da ordenação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28048" y="2953512"/>
            <a:ext cx="2514600" cy="658368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6064" y="299923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3864"/>
                </a:solidFill>
                <a:latin typeface="Calibri"/>
              </a:rPr>
              <a:t>0,418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6064" y="327355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Acerto da lista prioritária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28048" y="3685032"/>
            <a:ext cx="2514600" cy="658368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56064" y="373075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3864"/>
                </a:solidFill>
                <a:latin typeface="Calibri"/>
              </a:rPr>
              <a:t>0,798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6064" y="400507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Separação crítica × não crítica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28048" y="4416552"/>
            <a:ext cx="2514600" cy="658368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6064" y="446227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C55A11"/>
                </a:solidFill>
                <a:latin typeface="Calibri"/>
              </a:rPr>
              <a:t>não supera o piso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6064" y="473659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Erro do valor da taxa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5302844"/>
            <a:ext cx="11057839" cy="5669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5430860"/>
            <a:ext cx="106006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Termômetro descalibrado: erra os graus, mas aponta quem tem mais febre.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55A11"/>
                </a:solidFill>
                <a:latin typeface="Calibri"/>
              </a:rPr>
              <a:t>GANHO PRÁTICO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751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Quanto isso vale para o gestor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1371600" cy="381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76127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16</a:t>
            </a:r>
          </a:p>
        </p:txBody>
      </p:sp>
      <p:pic>
        <p:nvPicPr>
          <p:cNvPr id="6" name="Picture 5" descr="E4_desempenh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9338" y="1536192"/>
            <a:ext cx="9013018" cy="3200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4919472"/>
            <a:ext cx="3533546" cy="109728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4919472"/>
            <a:ext cx="50800" cy="109728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5065776"/>
            <a:ext cx="31677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28% vs 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577840"/>
            <a:ext cx="316778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top 50 × escolha ao acaso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9074" y="4919472"/>
            <a:ext cx="3533546" cy="109728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9074" y="4919472"/>
            <a:ext cx="50800" cy="109728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0242" y="5065776"/>
            <a:ext cx="31677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46%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0242" y="5577840"/>
            <a:ext cx="316778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das críticas com uma lista de 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1220" y="4919472"/>
            <a:ext cx="3533546" cy="109728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1220" y="4919472"/>
            <a:ext cx="50800" cy="109728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2388" y="5065776"/>
            <a:ext cx="31677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57% vs 19%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2388" y="5577840"/>
            <a:ext cx="316778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top 150 × escolha ao acaso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55A11"/>
                </a:solidFill>
                <a:latin typeface="Calibri"/>
              </a:rPr>
              <a:t>INTERPRETABILIDADE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751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Por que esta escola? A explicação de cada indicação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1371600" cy="381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76127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17</a:t>
            </a:r>
          </a:p>
        </p:txBody>
      </p:sp>
      <p:pic>
        <p:nvPicPr>
          <p:cNvPr id="6" name="Picture 5" descr="P1_fatores_globa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7" y="1444752"/>
            <a:ext cx="7315200" cy="407524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02168" y="1755648"/>
            <a:ext cx="82296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673352"/>
            <a:ext cx="3584448" cy="780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F3864"/>
                </a:solidFill>
                <a:latin typeface="Calibri"/>
              </a:rPr>
              <a:t>Cada previsão é decomposta</a:t>
            </a:r>
            <a:r>
              <a:rPr sz="1600" b="0">
                <a:solidFill>
                  <a:srgbClr val="262626"/>
                </a:solidFill>
                <a:latin typeface="Calibri"/>
              </a:rPr>
              <a:t> por característica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2168" y="2682240"/>
            <a:ext cx="82296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2599944"/>
            <a:ext cx="3584448" cy="780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262626"/>
                </a:solidFill>
                <a:latin typeface="Calibri"/>
              </a:rPr>
              <a:t>No topo:</a:t>
            </a:r>
            <a:r>
              <a:rPr sz="1600" b="1">
                <a:solidFill>
                  <a:srgbClr val="1F3864"/>
                </a:solidFill>
                <a:latin typeface="Calibri"/>
              </a:rPr>
              <a:t> histórico da escola, defasagem e reprovação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2168" y="3611880"/>
            <a:ext cx="3840480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03336" y="3794760"/>
            <a:ext cx="347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Acerta pelas razões certas.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55A11"/>
                </a:solidFill>
                <a:latin typeface="Calibri"/>
              </a:rPr>
              <a:t>CASO INDIVIDUAL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751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A explicação de uma escola específica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1371600" cy="381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76127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18</a:t>
            </a:r>
          </a:p>
        </p:txBody>
      </p:sp>
      <p:pic>
        <p:nvPicPr>
          <p:cNvPr id="6" name="Picture 5" descr="P2_escola_exemp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1193" y="1399032"/>
            <a:ext cx="8149309" cy="397763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5596126"/>
            <a:ext cx="82296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513830"/>
            <a:ext cx="10801807" cy="276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>
                <a:solidFill>
                  <a:srgbClr val="262626"/>
                </a:solidFill>
                <a:latin typeface="Calibri"/>
              </a:rPr>
              <a:t>Maior risco na base histórica: </a:t>
            </a:r>
            <a:r>
              <a:rPr sz="1700" b="1">
                <a:solidFill>
                  <a:srgbClr val="1F3864"/>
                </a:solidFill>
                <a:latin typeface="Calibri"/>
              </a:rPr>
              <a:t>escola indígena de Jatobá</a:t>
            </a:r>
            <a:r>
              <a:rPr sz="1700" b="0">
                <a:solidFill>
                  <a:srgbClr val="262626"/>
                </a:solidFill>
                <a:latin typeface="Calibri"/>
              </a:rPr>
              <a:t> — 28,7%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018782"/>
            <a:ext cx="82296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936486"/>
            <a:ext cx="10801807" cy="552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>
                <a:solidFill>
                  <a:srgbClr val="262626"/>
                </a:solidFill>
                <a:latin typeface="Calibri"/>
              </a:rPr>
              <a:t>É o </a:t>
            </a:r>
            <a:r>
              <a:rPr sz="1700" b="1">
                <a:solidFill>
                  <a:srgbClr val="1F3864"/>
                </a:solidFill>
                <a:latin typeface="Calibri"/>
              </a:rPr>
              <a:t>laudo que o gestor vê no painel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55A11"/>
                </a:solidFill>
                <a:latin typeface="Calibri"/>
              </a:rPr>
              <a:t>EQUIDADE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751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O limite que precisa ser declarado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1371600" cy="381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76127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19</a:t>
            </a:r>
          </a:p>
        </p:txBody>
      </p:sp>
      <p:pic>
        <p:nvPicPr>
          <p:cNvPr id="6" name="Picture 5" descr="S5_equidade_grup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205" y="1536192"/>
            <a:ext cx="7875686" cy="30175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345168" y="1673352"/>
            <a:ext cx="2697480" cy="2743200"/>
          </a:xfrm>
          <a:prstGeom prst="rect">
            <a:avLst/>
          </a:prstGeom>
          <a:solidFill>
            <a:srgbClr val="FD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345168" y="1673352"/>
            <a:ext cx="2697480" cy="635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28048" y="1947672"/>
            <a:ext cx="237744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Erro médio por grupo: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−6,12 p.p. indígenas e quilombolas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+0,07 p.p. urbanas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+0,38 p.p. rurais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4773168"/>
            <a:ext cx="82296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690872"/>
            <a:ext cx="10801807" cy="260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262626"/>
                </a:solidFill>
                <a:latin typeface="Calibri"/>
              </a:rPr>
              <a:t>Causa provável: </a:t>
            </a:r>
            <a:r>
              <a:rPr sz="1600" b="1">
                <a:solidFill>
                  <a:srgbClr val="1F3864"/>
                </a:solidFill>
                <a:latin typeface="Calibri"/>
              </a:rPr>
              <a:t>proteção comunitária</a:t>
            </a:r>
            <a:r>
              <a:rPr sz="1600" b="0">
                <a:solidFill>
                  <a:srgbClr val="262626"/>
                </a:solidFill>
                <a:latin typeface="Calibri"/>
              </a:rPr>
              <a:t> que os dados não captam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179568"/>
            <a:ext cx="82296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097272"/>
            <a:ext cx="10801807" cy="260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262626"/>
                </a:solidFill>
                <a:latin typeface="Calibri"/>
              </a:rPr>
              <a:t>Risco: </a:t>
            </a:r>
            <a:r>
              <a:rPr sz="1600" b="1">
                <a:solidFill>
                  <a:srgbClr val="1F3864"/>
                </a:solidFill>
                <a:latin typeface="Calibri"/>
              </a:rPr>
              <a:t>recursos para escolas sem risco real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5585968"/>
            <a:ext cx="82296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503672"/>
            <a:ext cx="10801807" cy="260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F3864"/>
                </a:solidFill>
                <a:latin typeface="Calibri"/>
              </a:rPr>
              <a:t>Declarado no painel</a:t>
            </a:r>
            <a:r>
              <a:rPr sz="1600" b="0">
                <a:solidFill>
                  <a:srgbClr val="262626"/>
                </a:solidFill>
                <a:latin typeface="Calibri"/>
              </a:rPr>
              <a:t> e 1º trabalho futuro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55A11"/>
                </a:solidFill>
                <a:latin typeface="Calibri"/>
              </a:rPr>
              <a:t>O SISTEMA NAS MÃOS DO GESTOR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751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A entrega: o painel de priorização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1371600" cy="381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76127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20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039112"/>
            <a:ext cx="3442106" cy="173736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039112"/>
            <a:ext cx="3442106" cy="63500"/>
          </a:xfrm>
          <a:prstGeom prst="rect">
            <a:avLst/>
          </a:prstGeom>
          <a:solidFill>
            <a:srgbClr val="2E5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313432"/>
            <a:ext cx="29849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F3864"/>
                </a:solidFill>
                <a:latin typeface="Calibri"/>
              </a:rPr>
              <a:t>Ranking de risco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770632"/>
            <a:ext cx="298490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62626"/>
                </a:solidFill>
                <a:latin typeface="Calibri"/>
              </a:rPr>
              <a:t>Escolas do ano seguinte, com filtros e CSV.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4794" y="2039112"/>
            <a:ext cx="3442106" cy="173736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4794" y="2039112"/>
            <a:ext cx="3442106" cy="63500"/>
          </a:xfrm>
          <a:prstGeom prst="rect">
            <a:avLst/>
          </a:prstGeom>
          <a:solidFill>
            <a:srgbClr val="2E5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3394" y="2313432"/>
            <a:ext cx="29849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F3864"/>
                </a:solidFill>
                <a:latin typeface="Calibri"/>
              </a:rPr>
              <a:t>Detalhe da escola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3394" y="2770632"/>
            <a:ext cx="298490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62626"/>
                </a:solidFill>
                <a:latin typeface="Calibri"/>
              </a:rPr>
              <a:t>Risco, posição e o laudo da escola.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2660" y="2039112"/>
            <a:ext cx="3442106" cy="173736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2660" y="2039112"/>
            <a:ext cx="3442106" cy="63500"/>
          </a:xfrm>
          <a:prstGeom prst="rect">
            <a:avLst/>
          </a:prstGeom>
          <a:solidFill>
            <a:srgbClr val="2E5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1260" y="2313432"/>
            <a:ext cx="29849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F3864"/>
                </a:solidFill>
                <a:latin typeface="Calibri"/>
              </a:rPr>
              <a:t>Panorama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1260" y="2770632"/>
            <a:ext cx="298490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62626"/>
                </a:solidFill>
                <a:latin typeface="Calibri"/>
              </a:rPr>
              <a:t>Quem abandona mais ou menos que o previsto.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681728"/>
            <a:ext cx="82296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599432"/>
            <a:ext cx="10801807" cy="552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F3864"/>
                </a:solidFill>
                <a:latin typeface="Calibri"/>
              </a:rPr>
              <a:t>Apoio à decisão</a:t>
            </a:r>
            <a:r>
              <a:rPr sz="1700" b="0">
                <a:solidFill>
                  <a:srgbClr val="262626"/>
                </a:solidFill>
                <a:latin typeface="Calibri"/>
              </a:rPr>
              <a:t>: mostra associações, não causas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806440"/>
            <a:ext cx="11057839" cy="5669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" y="5934456"/>
            <a:ext cx="106006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Onde intervir primeiro — e por quê.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55A11"/>
                </a:solidFill>
                <a:latin typeface="Calibri"/>
              </a:rPr>
              <a:t>RESPOSTAS ÀS PERGUNTAS DE PESQUISA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751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Conclusões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1371600" cy="381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76127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21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27632"/>
            <a:ext cx="11057839" cy="114300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63500" cy="1143000"/>
          </a:xfrm>
          <a:prstGeom prst="rect">
            <a:avLst/>
          </a:prstGeom>
          <a:solidFill>
            <a:srgbClr val="2E5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810512"/>
            <a:ext cx="1041775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62626"/>
                </a:solidFill>
                <a:latin typeface="Calibri"/>
              </a:rPr>
              <a:t>P1 · Sim.</a:t>
            </a:r>
            <a:r>
              <a:rPr sz="1800" b="0">
                <a:solidFill>
                  <a:srgbClr val="262626"/>
                </a:solidFill>
                <a:latin typeface="Calibri"/>
              </a:rPr>
              <a:t> O sistema acerta QUAIS escolas, não QUANTO — e a decisão depende da ordem.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953512"/>
            <a:ext cx="11057839" cy="114300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953512"/>
            <a:ext cx="63500" cy="1143000"/>
          </a:xfrm>
          <a:prstGeom prst="rect">
            <a:avLst/>
          </a:prstGeom>
          <a:solidFill>
            <a:srgbClr val="2E5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136392"/>
            <a:ext cx="1041775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62626"/>
                </a:solidFill>
                <a:latin typeface="Calibri"/>
              </a:rPr>
              <a:t>P2 · Sim.</a:t>
            </a:r>
            <a:r>
              <a:rPr sz="1800" b="0">
                <a:solidFill>
                  <a:srgbClr val="262626"/>
                </a:solidFill>
                <a:latin typeface="Calibri"/>
              </a:rPr>
              <a:t> Observado × esperado revela as escolas que fogem do padrão.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4361688"/>
            <a:ext cx="82296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79392"/>
            <a:ext cx="10801807" cy="276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F3864"/>
                </a:solidFill>
                <a:latin typeface="Calibri"/>
              </a:rPr>
              <a:t>Evasão concentrada</a:t>
            </a:r>
            <a:r>
              <a:rPr sz="1700" b="0">
                <a:solidFill>
                  <a:srgbClr val="262626"/>
                </a:solidFill>
                <a:latin typeface="Calibri"/>
              </a:rPr>
              <a:t>: priorizar, não acompanhar a média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784344"/>
            <a:ext cx="82296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702048"/>
            <a:ext cx="10801807" cy="276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F3864"/>
                </a:solidFill>
                <a:latin typeface="Calibri"/>
              </a:rPr>
              <a:t>39 características</a:t>
            </a:r>
            <a:r>
              <a:rPr sz="1700" b="0">
                <a:solidFill>
                  <a:srgbClr val="262626"/>
                </a:solidFill>
                <a:latin typeface="Calibri"/>
              </a:rPr>
              <a:t> com critérios explícitos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5207000"/>
            <a:ext cx="82296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124704"/>
            <a:ext cx="10801807" cy="552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F3864"/>
                </a:solidFill>
                <a:latin typeface="Calibri"/>
              </a:rPr>
              <a:t>Engenharia como defesa</a:t>
            </a:r>
            <a:r>
              <a:rPr sz="1700" b="0">
                <a:solidFill>
                  <a:srgbClr val="262626"/>
                </a:solidFill>
                <a:latin typeface="Calibri"/>
              </a:rPr>
              <a:t>: camadas e 138 testes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578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55A11"/>
                </a:solidFill>
                <a:latin typeface="Calibri"/>
              </a:rPr>
              <a:t>O QUE VEM DEPOIS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751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864"/>
                </a:solidFill>
                <a:latin typeface="Calibri"/>
              </a:rPr>
              <a:t>Trabalhos futuros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71016"/>
            <a:ext cx="1371600" cy="381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76127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22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73352"/>
            <a:ext cx="502920" cy="89611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89280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9848" y="1673352"/>
            <a:ext cx="10554919" cy="896112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4168" y="1984248"/>
            <a:ext cx="99605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3864"/>
                </a:solidFill>
                <a:latin typeface="Calibri"/>
              </a:rPr>
              <a:t>Correção do viés de equidade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697480"/>
            <a:ext cx="502920" cy="89611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916936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69848" y="2697480"/>
            <a:ext cx="10554919" cy="896112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44168" y="3008376"/>
            <a:ext cx="99605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3864"/>
                </a:solidFill>
                <a:latin typeface="Calibri"/>
              </a:rPr>
              <a:t>Ampliação da base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721608"/>
            <a:ext cx="502920" cy="89611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941064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69848" y="3721608"/>
            <a:ext cx="10554919" cy="896112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44168" y="4032504"/>
            <a:ext cx="99605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3864"/>
                </a:solidFill>
                <a:latin typeface="Calibri"/>
              </a:rPr>
              <a:t>Evolução do sistema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745736"/>
            <a:ext cx="502920" cy="89611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4965192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69848" y="4745736"/>
            <a:ext cx="10554919" cy="896112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4168" y="5056632"/>
            <a:ext cx="99605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3864"/>
                </a:solidFill>
                <a:latin typeface="Calibri"/>
              </a:rPr>
              <a:t>Avaliação em uso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22860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Obrigado.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3291840"/>
            <a:ext cx="1097280" cy="381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36118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C8D3E8"/>
                </a:solidFill>
                <a:latin typeface="Calibri"/>
              </a:rPr>
              <a:t>O sistema não diz quanto cada escola vai perder.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C8D3E8"/>
                </a:solidFill>
                <a:latin typeface="Calibri"/>
              </a:rPr>
              <a:t>Diz onde olhar primeiro — e por quê.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1206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9FB4D8"/>
                </a:solidFill>
                <a:latin typeface="Calibri"/>
              </a:rPr>
              <a:t>Artur Oliveira Santiago · PUC-SP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