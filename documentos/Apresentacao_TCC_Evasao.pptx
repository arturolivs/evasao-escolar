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8D3E8"/>
                </a:solidFill>
                <a:latin typeface="Calibri"/>
              </a:rPr>
              <a:t>PONTIFÍCIA UNIVERSIDADE CATÓLICA DE SÃO PAULO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361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FB4D8"/>
                </a:solidFill>
                <a:latin typeface="Calibri"/>
              </a:rPr>
              <a:t>Especialização em Engenharia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Sistema de Priorização de Escolas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em Risco de Evasão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C8D3E8"/>
                </a:solidFill>
                <a:latin typeface="Calibri"/>
              </a:rPr>
              <a:t>Uma ferramenta preditiva para a gestão da educação estadual de Pernambuco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892040"/>
            <a:ext cx="109728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Artur Oliveira Santiago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Orientador: prof. Silvio Luiz Stanzani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8767" y="5806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9FB4D8"/>
                </a:solidFill>
                <a:latin typeface="Calibri"/>
              </a:rPr>
              <a:t>São Paulo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que vou apresentar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14984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O problema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por que a média engana e onde o abandono realmente está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78735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6439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A solução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o que o sistema prevê, com quais informações e por quê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6641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84118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A engenharia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arquitetura em camadas, testes e reprodutibilidade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54093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71797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Os resultados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o que o sistema acerta, o que erra e quanto isso vale na prática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41772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59476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Os limites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o achado de equidade que precisa ser declarado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29451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47155"/>
            <a:ext cx="10801807" cy="341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62626"/>
                </a:solidFill>
                <a:latin typeface="Calibri"/>
              </a:rPr>
              <a:t/>
            </a:r>
            <a:r>
              <a:rPr sz="2100" b="1">
                <a:solidFill>
                  <a:srgbClr val="1F3864"/>
                </a:solidFill>
                <a:latin typeface="Calibri"/>
              </a:rPr>
              <a:t>A entrega</a:t>
            </a:r>
            <a:r>
              <a:rPr sz="2100" b="0">
                <a:solidFill>
                  <a:srgbClr val="262626"/>
                </a:solidFill>
                <a:latin typeface="Calibri"/>
              </a:rPr>
              <a:t> — o painel nas mãos do gestor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Ideia central: o valor não está em prever a taxa exata — está em acertar a ORDEM das escolas.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Por que a média da rede não serve para decidir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Evasão no Ensino Médio público de Pernambuco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7393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~800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8600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escolas estaduais de Ensino Médio em atividade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9074" y="162763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9074" y="162763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242" y="177393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242" y="228600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municípios cobertos pela rede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162763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162763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388" y="177393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2.043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388" y="228600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alunos abandonaram o Ensino Médio em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10801807" cy="617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>A evasão é o desfecho de um </a:t>
            </a:r>
            <a:r>
              <a:rPr sz="1900" b="1">
                <a:solidFill>
                  <a:srgbClr val="1F3864"/>
                </a:solidFill>
                <a:latin typeface="Calibri"/>
              </a:rPr>
              <a:t>processo cumulativo</a:t>
            </a:r>
            <a:r>
              <a:rPr sz="1900" b="0">
                <a:solidFill>
                  <a:srgbClr val="262626"/>
                </a:solidFill>
                <a:latin typeface="Calibri"/>
              </a:rPr>
              <a:t> de afastamento entre aluno e escola — não um evento isolado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7416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91864"/>
            <a:ext cx="10801807" cy="30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>Pernambuco tem um </a:t>
            </a:r>
            <a:r>
              <a:rPr sz="1900" b="1">
                <a:solidFill>
                  <a:srgbClr val="1F3864"/>
                </a:solidFill>
                <a:latin typeface="Calibri"/>
              </a:rPr>
              <a:t>programa pioneiro de tempo integral</a:t>
            </a:r>
            <a:r>
              <a:rPr sz="1900" b="0">
                <a:solidFill>
                  <a:srgbClr val="262626"/>
                </a:solidFill>
                <a:latin typeface="Calibri"/>
              </a:rPr>
              <a:t>: 56,7% das escolas em 2022 → 64,9% em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2932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47032"/>
            <a:ext cx="10801807" cy="617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>Hoje a Secretaria </a:t>
            </a:r>
            <a:r>
              <a:rPr sz="1900" b="1">
                <a:solidFill>
                  <a:srgbClr val="1F3864"/>
                </a:solidFill>
                <a:latin typeface="Calibri"/>
              </a:rPr>
              <a:t>não dispõe de mecanismo que antecipe o risco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age depois que o abandono já apareceu nos números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gestão precisa saber ONDE agir antes que o ano letivo termine.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ACHADO QUE ORIENTA TODO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média da rede esconde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E1_problema_cri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38" y="1536192"/>
            <a:ext cx="9013018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0,96%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taxa média da rede em 2024 — parece sob controle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9074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das escolas não registraram NENHUM abandono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76%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dos evadidos estão em apenas 79 escolas (10% da rede)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ESCOPO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decisão que define 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5254599" cy="3108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73352"/>
            <a:ext cx="5254599" cy="635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95959"/>
                </a:solidFill>
                <a:latin typeface="Calibri"/>
              </a:rPr>
              <a:t>Prever por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5786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Exige dados sigilosos de cada estudante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9850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027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Esforço operacional inviável para 800 escolas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3914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091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Não é o nível em que o gestor decide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0167" y="1673352"/>
            <a:ext cx="5254599" cy="3108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0167" y="1673352"/>
            <a:ext cx="5254599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194767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3864"/>
                </a:solidFill>
                <a:latin typeface="Calibri"/>
              </a:rPr>
              <a:t>Prever por ESCOLA 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4487" y="25786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0519" y="24963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Os dados públicos existem exatamente nesse nível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4487" y="29850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0519" y="2902712"/>
            <a:ext cx="4449927" cy="520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Volume gerenciável e auditável: ~800 unidades/ano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4487" y="365150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0519" y="3569208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É onde o gestor aloca equipe, programa e visita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Unidade de análise = a escola. Toda a arquitetura decorre dessa escolha.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QUE O TRABALHO SE PROPÔS A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Perguntas de pesquisa e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1051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10515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P1 · Previsão — é possível identificar antecipadamente quais escolas terão abandono elevado no ano seguinte, a partir de características observadas no ano corrente?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62072"/>
            <a:ext cx="11057839" cy="1051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62072"/>
            <a:ext cx="63500" cy="10515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44952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P2 · Diagnóstico — quais escolas apresentam abandono acima ou abaixo do que o seu próprio perfil faria esperar?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33672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Objetivo: desenvolver um sistema que estime a taxa de abandono do ano seguinte e justifique cada indicação de prioridade de forma compreensível para o gestor.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Dados, informações usadas e arquitetura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Os dados: tudo público, tudo do INEP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0801807" cy="30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/>
            </a:r>
            <a:r>
              <a:rPr sz="1900" b="1">
                <a:solidFill>
                  <a:srgbClr val="1F3864"/>
                </a:solidFill>
                <a:latin typeface="Calibri"/>
              </a:rPr>
              <a:t>Censo Escolar 2022–2024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infraestrutura, matrículas, corpo docente, localização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10816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8520"/>
            <a:ext cx="10801807" cy="30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/>
            </a:r>
            <a:r>
              <a:rPr sz="1900" b="1">
                <a:solidFill>
                  <a:srgbClr val="1F3864"/>
                </a:solidFill>
                <a:latin typeface="Calibri"/>
              </a:rPr>
              <a:t>Taxas de rendimento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aprovação, reprovação e abandono, no total e por série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6598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83688"/>
            <a:ext cx="10801807" cy="617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62626"/>
                </a:solidFill>
                <a:latin typeface="Calibri"/>
              </a:rPr>
              <a:t/>
            </a:r>
            <a:r>
              <a:rPr sz="1900" b="1">
                <a:solidFill>
                  <a:srgbClr val="1F3864"/>
                </a:solidFill>
                <a:latin typeface="Calibri"/>
              </a:rPr>
              <a:t>Quatro indicadores complementares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nível socioeconômico (INSE), regularidade do corpo docente (IRD), defasagem idade-série (TDI) e adequação da formação docente (AFD)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363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Do painel histórico ao conjunto usado na previsão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9359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59359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73989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2.392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25196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registros no painel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806 escolas · 2022–2024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8537" y="359359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8537" y="359359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9705" y="373989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−791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9705" y="425196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2024 não tem 2025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para observar: vira alvo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6" y="359359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146" y="359359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1314" y="373989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−15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4" y="425196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escola sem par no ano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seguinte (saiu da rede)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1755" y="359359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1755" y="359359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2923" y="373989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1.586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2923" y="425196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observações usadas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801 escolas · 39 características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Regra de casamento no tempo: características do ano t → abandono do ano t+1.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A VARIÁVEL-ALVO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que o sistema prevê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E2_al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81" y="1536192"/>
            <a:ext cx="9270533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0932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10912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68% das observações têm taxa exatamente zero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a maioria das escolas não registra abandono no 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51586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33568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O risco é muito desigual entre grupos</a:t>
            </a:r>
            <a:r>
              <a:rPr sz="1700" b="0">
                <a:solidFill>
                  <a:srgbClr val="262626"/>
                </a:solidFill>
                <a:latin typeface="Calibri"/>
              </a:rPr>
              <a:t>: em 2024, 0,6% nas urbanas, 0,9% nas rurais e 6,3% nas indígenas e quilombolas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SELEÇÃO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As informações usadas: de 400+ colunas para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E7_relacao_to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74" y="1307592"/>
            <a:ext cx="4963028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3568" y="158191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6 grupos · 39 características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9933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0756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Contexto e localização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20574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4505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5328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Porte e proporções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6848" y="25146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9077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990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Infraestrutura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2971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3649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34472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Corpo docente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34290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8" y="38221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39044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Perfil dos alunos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886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42793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3616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Histórico de rendimento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43434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873752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Cortes: informação repetida, consequência aritmética do alvo e colunas ausentes na maior parte das escolas.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5559552"/>
            <a:ext cx="4023360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572414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30 das 38 características numéricas têm relação comprovada com o abandono.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ENGENHARIA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Arquitetura: componentes e fluxo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arq3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12" y="1536192"/>
            <a:ext cx="5830671" cy="356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3218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39512"/>
            <a:ext cx="10801807" cy="520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Comunicação entre componentes sempre </a:t>
            </a:r>
            <a:r>
              <a:rPr sz="1600" b="1">
                <a:solidFill>
                  <a:srgbClr val="1F3864"/>
                </a:solidFill>
                <a:latin typeface="Calibri"/>
              </a:rPr>
              <a:t>por arquivos em disco</a:t>
            </a:r>
            <a:r>
              <a:rPr sz="1600" b="0">
                <a:solidFill>
                  <a:srgbClr val="262626"/>
                </a:solidFill>
                <a:latin typeface="Calibri"/>
              </a:rPr>
              <a:t>, nunca por chamada direta — dá para retomar o fluxo de qualquer etapa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98830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06008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Dependências em </a:t>
            </a:r>
            <a:r>
              <a:rPr sz="1600" b="1">
                <a:solidFill>
                  <a:srgbClr val="1F3864"/>
                </a:solidFill>
                <a:latin typeface="Calibri"/>
              </a:rPr>
              <a:t>sentido único e sem ciclos</a:t>
            </a:r>
            <a:r>
              <a:rPr sz="1600" b="0">
                <a:solidFill>
                  <a:srgbClr val="262626"/>
                </a:solidFill>
                <a:latin typeface="Calibri"/>
              </a:rPr>
              <a:t>: dados → características → modelo → painel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Por que os testes são o centro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914400"/>
          </a:xfrm>
          <a:prstGeom prst="rect">
            <a:avLst/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Em sistemas que aprendem com dados, o erro de preparação não quebra a execução: ele produz, em silêncio, um modelo inválido que continua respondendo normalmente.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443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10801807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62626"/>
                </a:solidFill>
                <a:latin typeface="Calibri"/>
              </a:rPr>
              <a:t>Um deslocamento de </a:t>
            </a:r>
            <a:r>
              <a:rPr sz="1800" b="1">
                <a:solidFill>
                  <a:srgbClr val="1F3864"/>
                </a:solidFill>
                <a:latin typeface="Calibri"/>
              </a:rPr>
              <a:t>um ano</a:t>
            </a:r>
            <a:r>
              <a:rPr sz="1800" b="0">
                <a:solidFill>
                  <a:srgbClr val="262626"/>
                </a:solidFill>
                <a:latin typeface="Calibri"/>
              </a:rPr>
              <a:t> no casamento entre características e abandono destruiria todo o valor preditivo — sem gerar um único sintoma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67588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93592"/>
            <a:ext cx="10801807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62626"/>
                </a:solidFill>
                <a:latin typeface="Calibri"/>
              </a:rPr>
              <a:t>Por isso a suíte cobre </a:t>
            </a:r>
            <a:r>
              <a:rPr sz="1800" b="1">
                <a:solidFill>
                  <a:srgbClr val="1F3864"/>
                </a:solidFill>
                <a:latin typeface="Calibri"/>
              </a:rPr>
              <a:t>riscos de validade</a:t>
            </a:r>
            <a:r>
              <a:rPr sz="1800" b="0">
                <a:solidFill>
                  <a:srgbClr val="262626"/>
                </a:solidFill>
                <a:latin typeface="Calibri"/>
              </a:rPr>
              <a:t>, não só de execução: filtros do universo, casamento temporal, vazamento entre treino e teste, consistência das explicações e ordenação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4074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10801807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62626"/>
                </a:solidFill>
                <a:latin typeface="Calibri"/>
              </a:rPr>
              <a:t>Arquitetura em camadas, configuração centralizada e ambiente com versões fixadas completam a </a:t>
            </a:r>
            <a:r>
              <a:rPr sz="1800" b="1">
                <a:solidFill>
                  <a:srgbClr val="1F3864"/>
                </a:solidFill>
                <a:latin typeface="Calibri"/>
              </a:rPr>
              <a:t>reprodutibilidade a partir dos dados originais</a:t>
            </a:r>
            <a:r>
              <a:rPr sz="18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02920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2920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7550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68756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testes automatizados, executados a cada alteração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9074" y="502920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9074" y="502920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0242" y="517550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242" y="568756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etapas que dependem da máquina de desenvolvimento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502920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502920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2388" y="517550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2388" y="568756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estágios de dados — originais nunca sobrescritos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O que o sistema acerta, o que erra e quanto vale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Como o desempenho foi medido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5300319" cy="1920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5300319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788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3864"/>
                </a:solidFill>
                <a:latin typeface="Calibri"/>
              </a:rPr>
              <a:t>Validação repetida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4788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20 repetições deixando 20% dos municípios fora do treino. Nenhuma escola do mesmo município aparece dos dois lados. Produz uma faixa de confiança, não um número solitário.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627632"/>
            <a:ext cx="5300319" cy="1920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627632"/>
            <a:ext cx="5300319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0479" y="1901952"/>
            <a:ext cx="4788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3864"/>
                </a:solidFill>
                <a:latin typeface="Calibri"/>
              </a:rPr>
              <a:t>Teste do ano nunca visto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0479" y="2359152"/>
            <a:ext cx="4788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Treina com o par 2022–2023 e prevê o par 2023–2024. É o protocolo que reproduz o uso real: aprender com o passado e prever um ano que ainda não aconteceu.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221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As três medidas reportadas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159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33672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Erro médio da taxa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quanto o sistema erra o valor, em pontos percentuais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3862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56328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Acerto da ordenação</a:t>
            </a:r>
            <a:r>
              <a:rPr sz="1700" b="0">
                <a:solidFill>
                  <a:srgbClr val="262626"/>
                </a:solidFill>
                <a:latin typeface="Calibri"/>
              </a:rPr>
              <a:t> (0 a 1) — quanto a ordem prevista se aproxima da observada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16128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78984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Acerto na lista prioritária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entre as 10% apontadas como mais críticas, quantas realmente eram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 duas últimas são as que importam para o propósito do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RESULTADO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sistema acerta a ordem, não a magnitude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M6_cv_repet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6232"/>
            <a:ext cx="8778240" cy="262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02368" y="162763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Teste do ano nunca visto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802368" y="222199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0384" y="22677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0384" y="25420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Acerto da ordenação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02368" y="295351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0384" y="29992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0,418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0384" y="32735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Acerto da lista prioritária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02368" y="368503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0384" y="37307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0,798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0384" y="4005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Separação crítica × não crítica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2368" y="441655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4462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não supera o piso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0384" y="47365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Erro do valor da taxa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891364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019380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Como um termômetro descalibrado: erra alguns graus, mas aponta corretamente quem está com mais febre.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GANHO PRÁTICO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Quanto isso vale para o gestor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E4_desempe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38" y="1536192"/>
            <a:ext cx="9013018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28% vs 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lista das 50 primeiras escolas × escolha ao acaso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9074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das escolas críticas alcançadas com uma lista de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57% vs 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lista de 150 escolas × escolha ao acaso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LEITURA PARA A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erro traduzido em número de alunos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E10_residuos_transicoes_alu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59" y="1536192"/>
            <a:ext cx="9773777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477255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94959"/>
            <a:ext cx="10801807" cy="520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Erro médio de </a:t>
            </a:r>
            <a:r>
              <a:rPr sz="1600" b="1">
                <a:solidFill>
                  <a:srgbClr val="1F3864"/>
                </a:solidFill>
                <a:latin typeface="Calibri"/>
              </a:rPr>
              <a:t>cerca de 3 alunos por escola</a:t>
            </a:r>
            <a:r>
              <a:rPr sz="1600" b="0">
                <a:solidFill>
                  <a:srgbClr val="262626"/>
                </a:solidFill>
                <a:latin typeface="Calibri"/>
              </a:rPr>
              <a:t> nas duas transições (3,3 e 3,0) — sem tendência de superestimar ou subestimar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143751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61455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Os maiores desvios se concentram nas </a:t>
            </a:r>
            <a:r>
              <a:rPr sz="1600" b="1">
                <a:solidFill>
                  <a:srgbClr val="1F3864"/>
                </a:solidFill>
                <a:latin typeface="Calibri"/>
              </a:rPr>
              <a:t>poucas escolas de grande porte</a:t>
            </a:r>
            <a:r>
              <a:rPr sz="1600" b="0">
                <a:solidFill>
                  <a:srgbClr val="262626"/>
                </a:solidFill>
                <a:latin typeface="Calibri"/>
              </a:rPr>
              <a:t>, com dezenas de evasões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INTERPRETABILIDADE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Por que esta escola? A explicação de cada indicação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P1_fatores_glob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444752"/>
            <a:ext cx="7315200" cy="40752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02168" y="175564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73352"/>
            <a:ext cx="3584448" cy="780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Cada previsão é </a:t>
            </a:r>
            <a:r>
              <a:rPr sz="1600" b="1">
                <a:solidFill>
                  <a:srgbClr val="1F3864"/>
                </a:solidFill>
                <a:latin typeface="Calibri"/>
              </a:rPr>
              <a:t>decomposta na contribuição de cada característica</a:t>
            </a:r>
            <a:r>
              <a:rPr sz="1600" b="0">
                <a:solidFill>
                  <a:srgbClr val="262626"/>
                </a:solidFill>
                <a:latin typeface="Calibri"/>
              </a:rPr>
              <a:t> — magnitude e direção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268224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599944"/>
            <a:ext cx="3584448" cy="780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No topo, o </a:t>
            </a:r>
            <a:r>
              <a:rPr sz="1600" b="1">
                <a:solidFill>
                  <a:srgbClr val="1F3864"/>
                </a:solidFill>
                <a:latin typeface="Calibri"/>
              </a:rPr>
              <a:t>histórico recente da própria escola</a:t>
            </a:r>
            <a:r>
              <a:rPr sz="1600" b="0">
                <a:solidFill>
                  <a:srgbClr val="262626"/>
                </a:solidFill>
                <a:latin typeface="Calibri"/>
              </a:rPr>
              <a:t>; depois a defasagem idade-série e a reprovação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2168" y="3608832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3526536"/>
            <a:ext cx="3584448" cy="130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As direções são </a:t>
            </a:r>
            <a:r>
              <a:rPr sz="1600" b="1">
                <a:solidFill>
                  <a:srgbClr val="1F3864"/>
                </a:solidFill>
                <a:latin typeface="Calibri"/>
              </a:rPr>
              <a:t>coerentes com o esperado</a:t>
            </a:r>
            <a:r>
              <a:rPr sz="1600" b="0">
                <a:solidFill>
                  <a:srgbClr val="262626"/>
                </a:solidFill>
                <a:latin typeface="Calibri"/>
              </a:rPr>
              <a:t>: abandono, reprovação e defasagem empurram o risco para cima; turmas menores e professores formados na disciplina empurram para baixo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2168" y="5257800"/>
            <a:ext cx="384048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5440680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 sistema não está apenas acertando — está acertando pelas razões certas.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CASO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explicação de uma escola específica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P2_escola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193" y="1399032"/>
            <a:ext cx="8149309" cy="39776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596126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13830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Escola de maior risco previsto na rede: uma </a:t>
            </a:r>
            <a:r>
              <a:rPr sz="1700" b="1">
                <a:solidFill>
                  <a:srgbClr val="1F3864"/>
                </a:solidFill>
                <a:latin typeface="Calibri"/>
              </a:rPr>
              <a:t>estadual indígena no município de Jatobá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28,7%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18782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36486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É exatamente esse laudo individual que o painel apresenta ao gestor, para que ele possa </a:t>
            </a:r>
            <a:r>
              <a:rPr sz="1700" b="1">
                <a:solidFill>
                  <a:srgbClr val="1F3864"/>
                </a:solidFill>
                <a:latin typeface="Calibri"/>
              </a:rPr>
              <a:t>concordar ou discordar com argumento</a:t>
            </a:r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EQUIDADE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limite que precisa ser declarado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S5_equidade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05" y="1536192"/>
            <a:ext cx="7875686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19488" y="1673352"/>
            <a:ext cx="2697480" cy="2743200"/>
          </a:xfrm>
          <a:prstGeom prst="rect">
            <a:avLst/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19488" y="1673352"/>
            <a:ext cx="2697480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8" y="1947672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O sistema erra PARA MAIS nas escolas indígenas e quilombolas: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−6,12 p.p. nesse grupo (41 escolas)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+0,07 p.p. nas urbanas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+0,38 p.p. nas rurais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731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908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Explicação provável: </a:t>
            </a:r>
            <a:r>
              <a:rPr sz="1600" b="1">
                <a:solidFill>
                  <a:srgbClr val="1F3864"/>
                </a:solidFill>
                <a:latin typeface="Calibri"/>
              </a:rPr>
              <a:t>fatores de proteção ligados ao vínculo comunitário</a:t>
            </a:r>
            <a:r>
              <a:rPr sz="1600" b="0">
                <a:solidFill>
                  <a:srgbClr val="262626"/>
                </a:solidFill>
                <a:latin typeface="Calibri"/>
              </a:rPr>
              <a:t> que os dados disponíveis não capturam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1795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972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Consequência: sem correção, o sistema </a:t>
            </a:r>
            <a:r>
              <a:rPr sz="1600" b="1">
                <a:solidFill>
                  <a:srgbClr val="1F3864"/>
                </a:solidFill>
                <a:latin typeface="Calibri"/>
              </a:rPr>
              <a:t>deslocaria recursos</a:t>
            </a:r>
            <a:r>
              <a:rPr sz="1600" b="0">
                <a:solidFill>
                  <a:srgbClr val="262626"/>
                </a:solidFill>
                <a:latin typeface="Calibri"/>
              </a:rPr>
              <a:t> para escolas que não estão de fato em risco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859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036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A limitação está </a:t>
            </a:r>
            <a:r>
              <a:rPr sz="1600" b="1">
                <a:solidFill>
                  <a:srgbClr val="1F3864"/>
                </a:solidFill>
                <a:latin typeface="Calibri"/>
              </a:rPr>
              <a:t>documentada, exposta no painel</a:t>
            </a:r>
            <a:r>
              <a:rPr sz="1600" b="0">
                <a:solidFill>
                  <a:srgbClr val="262626"/>
                </a:solidFill>
                <a:latin typeface="Calibri"/>
              </a:rPr>
              <a:t> e é o primeiro item dos trabalhos futuros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SISTEMA NAS MÃOS DO GESTOR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entrega: o painel de priorização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3442106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7335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Ranking de risco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0487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Lista das escolas para o ano seguinte, com filtros por região e município e marcação das mais críticas. Exportável em CSV.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4794" y="1673352"/>
            <a:ext cx="3442106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4794" y="167335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3394" y="19476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Detalhe da escola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394" y="240487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Risco previsto, posição na lista e quais características puxaram aquela previsão para cima ou para baixo — o laudo individual.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2660" y="1673352"/>
            <a:ext cx="3442106" cy="2468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2660" y="167335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1260" y="19476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Panorama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1260" y="240487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Diagnóstico que separa as escolas que abandonam MAIS do que o previsto, e merecem alerta, das que abandonam MENOS, e merecem estudo.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9884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16552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Escopo deliberado: </a:t>
            </a:r>
            <a:r>
              <a:rPr sz="1700" b="1">
                <a:solidFill>
                  <a:srgbClr val="1F3864"/>
                </a:solidFill>
                <a:latin typeface="Calibri"/>
              </a:rPr>
              <a:t>apoio à decisão, não recomendação automática de ações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o sistema identifica associações, não causas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97856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15560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Ressalva explícita na própria tela: a estimativa honesta de desempenho é a do teste do ano nunca visto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 painel responde duas perguntas no mesmo lugar: onde intervir primeiro e por quê.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RESPOSTAS ÀS PERGUNTAS DE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11430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P1 · Sim, com uma qualificação que é ela própria um resultado: o sistema identifica QUAIS escolas terão abandono elevado, mas não estima QUANTO. Como a decisão do gestor exige a ordem e não o valor, a pergunta está respondida no que importa.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53512"/>
            <a:ext cx="11057839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53512"/>
            <a:ext cx="63500" cy="11430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36392"/>
            <a:ext cx="1041775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P2 · Sim. A comparação entre o abandono observado e o que o perfil faria esperar identifica os dois extremos — e distinguir a escola que foge ao padrão do modelo que não enxerga um fator faz parte da resposta.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6168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79392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A evasão na rede </a:t>
            </a:r>
            <a:r>
              <a:rPr sz="1700" b="1">
                <a:solidFill>
                  <a:srgbClr val="1F3864"/>
                </a:solidFill>
                <a:latin typeface="Calibri"/>
              </a:rPr>
              <a:t>não é difusa, é concentrada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o que justifica priorizar em vez de acompanhar a média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8434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02048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39 características</a:t>
            </a:r>
            <a:r>
              <a:rPr sz="1700" b="0">
                <a:solidFill>
                  <a:srgbClr val="262626"/>
                </a:solidFill>
                <a:latin typeface="Calibri"/>
              </a:rPr>
              <a:t> escolhidas entre mais de 400, com análise estatística individual e critérios explícitos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20700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4704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/>
            </a:r>
            <a:r>
              <a:rPr sz="1700" b="1">
                <a:solidFill>
                  <a:srgbClr val="1F3864"/>
                </a:solidFill>
                <a:latin typeface="Calibri"/>
              </a:rPr>
              <a:t>Engenharia como defesa</a:t>
            </a:r>
            <a:r>
              <a:rPr sz="1700" b="0">
                <a:solidFill>
                  <a:srgbClr val="262626"/>
                </a:solidFill>
                <a:latin typeface="Calibri"/>
              </a:rPr>
              <a:t>: em um sistema que aprende com dados, arquitetura em camadas e 120 testes são a única proteção contra erros que não se manifestam em execução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QUE VEM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Trabalhos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928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" y="1673352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1783080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Correção do viés de equidade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2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Calibração específica para as escolas de localização diferenciada e investigação dos fatores de proteção que explicam o baixo abandono observado.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97480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169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697480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807208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Ampliação 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10896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Séries históricas mais longas, que devem reduzir a limitação de magnitude, e integração de outras fontes públicas.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21608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3721608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3831336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Evolução do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13308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Empacotamento em contêiner, monitoramento contínuo do modelo e integração aos sistemas da Secretaria.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45736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9651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4745736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4855464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Avaliação em 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5157216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Estudo com gestores para medir a usabilidade do painel e o efeito das intervenções priorizadas.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109728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O sistema não diz quanto cada escola vai perder.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Diz onde olhar primeiro — e por quê.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FB4D8"/>
                </a:solidFill>
                <a:latin typeface="Calibri"/>
              </a:rPr>
              <a:t>Artur Oliveira Santiago · PUC-SP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